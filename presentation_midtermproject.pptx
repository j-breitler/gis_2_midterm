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6" r:id="rId5"/>
    <p:sldId id="257" r:id="rId6"/>
    <p:sldId id="269" r:id="rId7"/>
    <p:sldId id="268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FC6"/>
    <a:srgbClr val="59AAF2"/>
    <a:srgbClr val="DB7903"/>
    <a:srgbClr val="ADAA2D"/>
    <a:srgbClr val="000000"/>
    <a:srgbClr val="E6ECEA"/>
    <a:srgbClr val="F9D7D7"/>
    <a:srgbClr val="F6C0C0"/>
    <a:srgbClr val="FDF2C3"/>
    <a:srgbClr val="0E6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99153-A767-4B23-FECA-B0DEED229916}" v="773" dt="2025-12-09T13:52:20.656"/>
    <p1510:client id="{515FB54B-33EC-7D80-E609-E23EE1FD6060}" v="356" dt="2025-12-09T12:25:50.124"/>
    <p1510:client id="{5BD9CC76-1E94-275E-BB76-E45798956E74}" v="916" dt="2025-12-09T20:06:57.574"/>
    <p1510:client id="{D5DAD484-C2DC-CD71-A91E-986A62FF0876}" v="7" dt="2025-12-10T08:31:14.565"/>
    <p1510:client id="{ECE1699C-4FC1-0ADC-16B6-F6D86A4EE7B2}" v="866" dt="2025-12-09T19:11:23.805"/>
    <p1510:client id="{FB2D472A-9DC6-7157-63F0-1B0DAF3650C0}" v="3" dt="2025-12-09T23:48:46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8B8282-E656-49AE-AAD7-C6AB8849A791}" type="doc">
      <dgm:prSet loTypeId="urn:microsoft.com/office/officeart/2005/8/layout/b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B01492B-7F62-4AC3-B1C3-B6023272FF0D}">
      <dgm:prSet phldr="0" custT="1"/>
      <dgm:spPr/>
      <dgm:t>
        <a:bodyPr/>
        <a:lstStyle/>
        <a:p>
          <a:pPr algn="l" rtl="0"/>
          <a:r>
            <a:rPr lang="en-US" sz="2000" b="1" dirty="0">
              <a:solidFill>
                <a:schemeClr val="tx1"/>
              </a:solidFill>
              <a:latin typeface="Century Gothic" panose="020B0502020202020204"/>
            </a:rPr>
            <a:t>Data Acquisition and Central Configuration</a:t>
          </a:r>
          <a:endParaRPr lang="en-US" sz="2000" dirty="0">
            <a:solidFill>
              <a:schemeClr val="tx1"/>
            </a:solidFill>
            <a:latin typeface="Century Gothic" panose="020B0502020202020204"/>
          </a:endParaRPr>
        </a:p>
      </dgm:t>
    </dgm:pt>
    <dgm:pt modelId="{657B1D1A-BFED-41A1-8F76-E3821E78D073}" type="parTrans" cxnId="{EB3CC1DA-AE84-42B8-8D6D-864F7AB96C57}">
      <dgm:prSet/>
      <dgm:spPr/>
    </dgm:pt>
    <dgm:pt modelId="{FA1B7116-1EFE-44C4-8842-685220B398E3}" type="sibTrans" cxnId="{EB3CC1DA-AE84-42B8-8D6D-864F7AB96C57}">
      <dgm:prSet/>
      <dgm:spPr/>
      <dgm:t>
        <a:bodyPr/>
        <a:lstStyle/>
        <a:p>
          <a:endParaRPr lang="en-US"/>
        </a:p>
      </dgm:t>
    </dgm:pt>
    <dgm:pt modelId="{2F60BBE7-139C-46AB-9F2D-BEACCBA68671}">
      <dgm:prSet phldr="0" custT="1"/>
      <dgm:spPr/>
      <dgm:t>
        <a:bodyPr/>
        <a:lstStyle/>
        <a:p>
          <a:pPr algn="l" rtl="0"/>
          <a:r>
            <a:rPr lang="en-US" sz="1800" dirty="0" err="1">
              <a:solidFill>
                <a:schemeClr val="tx1"/>
              </a:solidFill>
              <a:latin typeface="Century Gothic" panose="020B0502020202020204"/>
            </a:rPr>
            <a:t>OpenStreetMap,Natura</a:t>
          </a:r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 2000, Digital Elevation Model</a:t>
          </a:r>
        </a:p>
      </dgm:t>
    </dgm:pt>
    <dgm:pt modelId="{A6C9B144-D18A-4ADE-9650-E781AF059FC9}" type="parTrans" cxnId="{04F63B18-4ABA-47E5-8E0F-234DB4F14FAB}">
      <dgm:prSet/>
      <dgm:spPr/>
    </dgm:pt>
    <dgm:pt modelId="{FE409BA4-3584-405D-85B0-D334CAC78F0B}" type="sibTrans" cxnId="{04F63B18-4ABA-47E5-8E0F-234DB4F14FAB}">
      <dgm:prSet/>
      <dgm:spPr/>
    </dgm:pt>
    <dgm:pt modelId="{1D2C5501-4A8C-40D3-A607-6B85F5C6D842}">
      <dgm:prSet phldr="0" custT="1"/>
      <dgm:spPr/>
      <dgm:t>
        <a:bodyPr/>
        <a:lstStyle/>
        <a:p>
          <a:pPr algn="l"/>
          <a:r>
            <a:rPr lang="en-US" sz="2000" b="1" dirty="0">
              <a:solidFill>
                <a:schemeClr val="tx1"/>
              </a:solidFill>
              <a:latin typeface="Century Gothic" panose="020B0502020202020204"/>
            </a:rPr>
            <a:t>Data Preprocessing</a:t>
          </a:r>
          <a:endParaRPr lang="en-US" sz="2000" dirty="0">
            <a:solidFill>
              <a:schemeClr val="tx1"/>
            </a:solidFill>
            <a:latin typeface="Century Gothic" panose="020B0502020202020204"/>
          </a:endParaRPr>
        </a:p>
      </dgm:t>
    </dgm:pt>
    <dgm:pt modelId="{C7E990D8-4897-4C95-82A8-4D21B7D2F1DE}" type="parTrans" cxnId="{D86BE6E1-562F-4089-9234-58233AFA1B37}">
      <dgm:prSet/>
      <dgm:spPr/>
    </dgm:pt>
    <dgm:pt modelId="{0DE1F499-C7BF-490D-A1D1-719BBFB8E8B8}" type="sibTrans" cxnId="{D86BE6E1-562F-4089-9234-58233AFA1B37}">
      <dgm:prSet/>
      <dgm:spPr/>
      <dgm:t>
        <a:bodyPr/>
        <a:lstStyle/>
        <a:p>
          <a:endParaRPr lang="en-US"/>
        </a:p>
      </dgm:t>
    </dgm:pt>
    <dgm:pt modelId="{C1B8A333-D480-436F-AF29-DA849CE55F8B}">
      <dgm:prSet phldr="0" custT="1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Clean, clip, and reproject (EPSG: 32633)</a:t>
          </a:r>
        </a:p>
      </dgm:t>
    </dgm:pt>
    <dgm:pt modelId="{376AD4C3-C039-46C0-AADB-04815AC489C5}" type="parTrans" cxnId="{5E89BABE-4864-4318-9019-E4679E18E1CE}">
      <dgm:prSet/>
      <dgm:spPr/>
    </dgm:pt>
    <dgm:pt modelId="{BD5B2A8C-D04D-476E-911A-E8338FF88905}" type="sibTrans" cxnId="{5E89BABE-4864-4318-9019-E4679E18E1CE}">
      <dgm:prSet/>
      <dgm:spPr/>
    </dgm:pt>
    <dgm:pt modelId="{70A4DBDC-D1F2-4681-B961-ACDED9D82735}">
      <dgm:prSet phldr="0" custT="1"/>
      <dgm:spPr/>
      <dgm:t>
        <a:bodyPr/>
        <a:lstStyle/>
        <a:p>
          <a:pPr algn="l"/>
          <a:r>
            <a:rPr lang="en-US" sz="2000" b="1" dirty="0">
              <a:solidFill>
                <a:schemeClr val="tx1"/>
              </a:solidFill>
              <a:latin typeface="Century Gothic" panose="020B0502020202020204"/>
            </a:rPr>
            <a:t>Economic Evaluation</a:t>
          </a:r>
          <a:endParaRPr lang="en-US" sz="2000" dirty="0">
            <a:solidFill>
              <a:schemeClr val="tx1"/>
            </a:solidFill>
            <a:latin typeface="Century Gothic" panose="020B0502020202020204"/>
          </a:endParaRPr>
        </a:p>
      </dgm:t>
    </dgm:pt>
    <dgm:pt modelId="{951407AD-EBF0-44FC-B252-6286EDC69DED}" type="parTrans" cxnId="{E6E1FD59-EADC-4C8D-92D5-96A86B115BF7}">
      <dgm:prSet/>
      <dgm:spPr/>
    </dgm:pt>
    <dgm:pt modelId="{7A2F11E6-E28E-4CD9-8624-6C202CFFED36}" type="sibTrans" cxnId="{E6E1FD59-EADC-4C8D-92D5-96A86B115BF7}">
      <dgm:prSet/>
      <dgm:spPr/>
      <dgm:t>
        <a:bodyPr/>
        <a:lstStyle/>
        <a:p>
          <a:endParaRPr lang="en-US"/>
        </a:p>
      </dgm:t>
    </dgm:pt>
    <dgm:pt modelId="{E0A7001F-5074-48DA-9618-F4305A5F37EB}">
      <dgm:prSet phldr="0" custT="1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Calculate LCOE raster</a:t>
          </a:r>
        </a:p>
      </dgm:t>
    </dgm:pt>
    <dgm:pt modelId="{C8103267-33B0-4B5E-9EF7-FDAC472A8931}" type="parTrans" cxnId="{0000C715-6920-4B94-9FB6-357CB1C89417}">
      <dgm:prSet/>
      <dgm:spPr/>
    </dgm:pt>
    <dgm:pt modelId="{1E78B238-C26A-44CC-BC52-2479224F454C}" type="sibTrans" cxnId="{0000C715-6920-4B94-9FB6-357CB1C89417}">
      <dgm:prSet/>
      <dgm:spPr/>
    </dgm:pt>
    <dgm:pt modelId="{319C110A-8D68-4506-9F76-B8481AE977EC}">
      <dgm:prSet phldr="0" custT="1"/>
      <dgm:spPr/>
      <dgm:t>
        <a:bodyPr/>
        <a:lstStyle/>
        <a:p>
          <a:pPr algn="l"/>
          <a:r>
            <a:rPr lang="en-US" sz="2000" b="1" dirty="0">
              <a:solidFill>
                <a:schemeClr val="tx1"/>
              </a:solidFill>
              <a:latin typeface="Century Gothic" panose="020B0502020202020204"/>
            </a:rPr>
            <a:t>Visualization</a:t>
          </a:r>
          <a:endParaRPr lang="en-US" sz="2000" dirty="0">
            <a:solidFill>
              <a:schemeClr val="tx1"/>
            </a:solidFill>
            <a:latin typeface="Century Gothic" panose="020B0502020202020204"/>
          </a:endParaRPr>
        </a:p>
      </dgm:t>
    </dgm:pt>
    <dgm:pt modelId="{A7E33E89-5053-4D65-85E2-BB1986E55E82}" type="parTrans" cxnId="{78331B8B-CD54-4DE5-932B-94572A5D9F9C}">
      <dgm:prSet/>
      <dgm:spPr/>
    </dgm:pt>
    <dgm:pt modelId="{6BA7AF73-F72E-4DB1-902A-4C254DB3471C}" type="sibTrans" cxnId="{78331B8B-CD54-4DE5-932B-94572A5D9F9C}">
      <dgm:prSet/>
      <dgm:spPr/>
      <dgm:t>
        <a:bodyPr/>
        <a:lstStyle/>
        <a:p>
          <a:endParaRPr lang="en-US"/>
        </a:p>
      </dgm:t>
    </dgm:pt>
    <dgm:pt modelId="{F1AA7E32-27A9-461C-928A-4152EACF92AC}">
      <dgm:prSet phldr="0" custT="1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Map of study area</a:t>
          </a:r>
        </a:p>
      </dgm:t>
    </dgm:pt>
    <dgm:pt modelId="{C9BFA40A-1908-43BC-A48B-F82737F1D78E}" type="parTrans" cxnId="{54F226CE-9263-4707-97F0-7961C33CA509}">
      <dgm:prSet/>
      <dgm:spPr/>
    </dgm:pt>
    <dgm:pt modelId="{DDDF47BE-7FE4-426E-A9F1-CA55F728CD80}" type="sibTrans" cxnId="{54F226CE-9263-4707-97F0-7961C33CA509}">
      <dgm:prSet/>
      <dgm:spPr/>
    </dgm:pt>
    <dgm:pt modelId="{3B42C594-4D76-431B-949D-24A4F72C1C03}">
      <dgm:prSet phldr="0"/>
      <dgm:spPr/>
      <dgm:t>
        <a:bodyPr/>
        <a:lstStyle/>
        <a:p>
          <a:pPr algn="l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Configuration of path, structure and parameters</a:t>
          </a:r>
          <a:endParaRPr lang="en-US" dirty="0"/>
        </a:p>
      </dgm:t>
    </dgm:pt>
    <dgm:pt modelId="{B10A5435-59C1-4F09-B4ED-D33EC2249FEB}" type="parTrans" cxnId="{8CE4F9BA-A1DC-4EC2-8A21-1EA5A463F86E}">
      <dgm:prSet/>
      <dgm:spPr/>
    </dgm:pt>
    <dgm:pt modelId="{062AE8D7-D3D3-4AE8-9DBA-340B8CD28D1D}" type="sibTrans" cxnId="{8CE4F9BA-A1DC-4EC2-8A21-1EA5A463F86E}">
      <dgm:prSet/>
      <dgm:spPr/>
      <dgm:t>
        <a:bodyPr/>
        <a:lstStyle/>
        <a:p>
          <a:endParaRPr lang="en-US"/>
        </a:p>
      </dgm:t>
    </dgm:pt>
    <dgm:pt modelId="{FAFBF982-D524-42FF-91B9-6649BC66A8C5}">
      <dgm:prSet phldr="0"/>
      <dgm:spPr/>
      <dgm:t>
        <a:bodyPr/>
        <a:lstStyle/>
        <a:p>
          <a:pPr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Resample (100m x 100m)</a:t>
          </a:r>
          <a:endParaRPr lang="en-US" sz="1800" dirty="0">
            <a:solidFill>
              <a:srgbClr val="000000"/>
            </a:solidFill>
            <a:latin typeface="Century Gothic" panose="020B0502020202020204"/>
          </a:endParaRPr>
        </a:p>
      </dgm:t>
    </dgm:pt>
    <dgm:pt modelId="{D13BD7A6-8009-4430-9891-C1459EA2CB47}" type="parTrans" cxnId="{19FB8182-06A5-46EA-87BC-65B97D79C9A1}">
      <dgm:prSet/>
      <dgm:spPr/>
    </dgm:pt>
    <dgm:pt modelId="{D44D0D15-83EE-4309-AE57-3088139A0339}" type="sibTrans" cxnId="{19FB8182-06A5-46EA-87BC-65B97D79C9A1}">
      <dgm:prSet/>
      <dgm:spPr/>
      <dgm:t>
        <a:bodyPr/>
        <a:lstStyle/>
        <a:p>
          <a:endParaRPr lang="en-US"/>
        </a:p>
      </dgm:t>
    </dgm:pt>
    <dgm:pt modelId="{5C02B9EE-5FC7-45CD-9625-115CE7A3A1AB}">
      <dgm:prSet phldr="0"/>
      <dgm:spPr/>
      <dgm:t>
        <a:bodyPr/>
        <a:lstStyle/>
        <a:p>
          <a:pPr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Slope calculation (&gt; 30°)</a:t>
          </a:r>
          <a:endParaRPr lang="en-US" sz="1800" dirty="0">
            <a:solidFill>
              <a:srgbClr val="000000"/>
            </a:solidFill>
            <a:latin typeface="Century Gothic" panose="020B0502020202020204"/>
          </a:endParaRPr>
        </a:p>
      </dgm:t>
    </dgm:pt>
    <dgm:pt modelId="{90CAE406-5A46-4133-8457-BC7F40E3BE13}" type="parTrans" cxnId="{FA9B0FDC-442B-4022-8C53-9C42A43AB682}">
      <dgm:prSet/>
      <dgm:spPr/>
    </dgm:pt>
    <dgm:pt modelId="{7E9F29E1-7212-4115-B6ED-5F63A2A2D5B4}" type="sibTrans" cxnId="{FA9B0FDC-442B-4022-8C53-9C42A43AB682}">
      <dgm:prSet/>
      <dgm:spPr/>
      <dgm:t>
        <a:bodyPr/>
        <a:lstStyle/>
        <a:p>
          <a:endParaRPr lang="en-US"/>
        </a:p>
      </dgm:t>
    </dgm:pt>
    <dgm:pt modelId="{6EA444AB-0A11-44D7-89FB-D245AF61ADFB}">
      <dgm:prSet phldr="0"/>
      <dgm:spPr/>
      <dgm:t>
        <a:bodyPr/>
        <a:lstStyle/>
        <a:p>
          <a:pPr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Buffer distances</a:t>
          </a:r>
          <a:endParaRPr lang="en-US" sz="1800" dirty="0">
            <a:solidFill>
              <a:srgbClr val="000000"/>
            </a:solidFill>
            <a:latin typeface="Century Gothic" panose="020B0502020202020204"/>
          </a:endParaRPr>
        </a:p>
      </dgm:t>
    </dgm:pt>
    <dgm:pt modelId="{65152631-59F6-4A39-B391-1DD83CC428A1}" type="parTrans" cxnId="{83B22051-E2B9-4E69-A688-265B29F4A07F}">
      <dgm:prSet/>
      <dgm:spPr/>
    </dgm:pt>
    <dgm:pt modelId="{29B06B42-ED70-4C34-8EEB-2CAA76D30A76}" type="sibTrans" cxnId="{83B22051-E2B9-4E69-A688-265B29F4A07F}">
      <dgm:prSet/>
      <dgm:spPr/>
      <dgm:t>
        <a:bodyPr/>
        <a:lstStyle/>
        <a:p>
          <a:endParaRPr lang="en-US"/>
        </a:p>
      </dgm:t>
    </dgm:pt>
    <dgm:pt modelId="{49CA0DE2-A442-4E01-95E5-3B6DC572DFD3}">
      <dgm:prSet phldr="0"/>
      <dgm:spPr/>
      <dgm:t>
        <a:bodyPr/>
        <a:lstStyle/>
        <a:p>
          <a:pPr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Converting shps to raster</a:t>
          </a:r>
          <a:endParaRPr lang="en-US" dirty="0"/>
        </a:p>
      </dgm:t>
    </dgm:pt>
    <dgm:pt modelId="{36AFE869-74B9-4532-A5D7-F9F46DA1ECF5}" type="parTrans" cxnId="{05325DAD-3000-4176-8EAD-93DB439BBCB5}">
      <dgm:prSet/>
      <dgm:spPr/>
    </dgm:pt>
    <dgm:pt modelId="{DED49C76-79D0-4BCF-BF5C-36208F340638}" type="sibTrans" cxnId="{05325DAD-3000-4176-8EAD-93DB439BBCB5}">
      <dgm:prSet/>
      <dgm:spPr/>
      <dgm:t>
        <a:bodyPr/>
        <a:lstStyle/>
        <a:p>
          <a:endParaRPr lang="en-US"/>
        </a:p>
      </dgm:t>
    </dgm:pt>
    <dgm:pt modelId="{976CA992-D59D-4956-8352-C2811AC1FA47}">
      <dgm:prSet phldr="0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Apply land-use efficiency factors (35-50 MW/km²)</a:t>
          </a:r>
          <a:endParaRPr lang="en-US" sz="1800" dirty="0">
            <a:solidFill>
              <a:srgbClr val="000000"/>
            </a:solidFill>
            <a:latin typeface="Century Gothic" panose="020B0502020202020204"/>
          </a:endParaRPr>
        </a:p>
      </dgm:t>
    </dgm:pt>
    <dgm:pt modelId="{63DE87E2-F1F5-4D8D-B9F1-426805A6F5CF}" type="parTrans" cxnId="{F1870DE9-8AB7-4DEB-9F06-B5E4B70C8A9A}">
      <dgm:prSet/>
      <dgm:spPr/>
    </dgm:pt>
    <dgm:pt modelId="{6DD6C14F-AF79-40DD-8D83-70B7C26B46F8}" type="sibTrans" cxnId="{F1870DE9-8AB7-4DEB-9F06-B5E4B70C8A9A}">
      <dgm:prSet/>
      <dgm:spPr/>
      <dgm:t>
        <a:bodyPr/>
        <a:lstStyle/>
        <a:p>
          <a:endParaRPr lang="en-US"/>
        </a:p>
      </dgm:t>
    </dgm:pt>
    <dgm:pt modelId="{15FF50D5-FC41-485B-A03D-B0AF0B05ADE3}">
      <dgm:prSet phldr="0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Estimate capacity and annual electricity generation potential (GWh/year)</a:t>
          </a:r>
          <a:endParaRPr lang="en-US" dirty="0"/>
        </a:p>
      </dgm:t>
    </dgm:pt>
    <dgm:pt modelId="{8C333445-2A4F-4E7E-864C-D6E69B6D05F5}" type="parTrans" cxnId="{98C4977D-BB92-44DE-BBC2-00ECC3C21D3D}">
      <dgm:prSet/>
      <dgm:spPr/>
    </dgm:pt>
    <dgm:pt modelId="{61FBC300-4AB6-42CC-B097-C3C8B1DEF745}" type="sibTrans" cxnId="{98C4977D-BB92-44DE-BBC2-00ECC3C21D3D}">
      <dgm:prSet/>
      <dgm:spPr/>
      <dgm:t>
        <a:bodyPr/>
        <a:lstStyle/>
        <a:p>
          <a:endParaRPr lang="en-US"/>
        </a:p>
      </dgm:t>
    </dgm:pt>
    <dgm:pt modelId="{C13F6A9C-D9D3-4E79-B763-3B8FF03D0295}">
      <dgm:prSet phldr="0"/>
      <dgm:spPr/>
      <dgm:t>
        <a:bodyPr/>
        <a:lstStyle/>
        <a:p>
          <a:pPr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Eligible vs. excluded areas</a:t>
          </a:r>
          <a:endParaRPr lang="en-US" sz="1800" dirty="0">
            <a:solidFill>
              <a:srgbClr val="000000"/>
            </a:solidFill>
            <a:latin typeface="Century Gothic" panose="020B0502020202020204"/>
          </a:endParaRPr>
        </a:p>
      </dgm:t>
    </dgm:pt>
    <dgm:pt modelId="{8EDCDD73-2344-4056-837C-37A92C20DCAC}" type="parTrans" cxnId="{1977DE12-A99E-44A1-B00C-90230C3AD502}">
      <dgm:prSet/>
      <dgm:spPr/>
    </dgm:pt>
    <dgm:pt modelId="{E439D34F-A56C-48AC-B118-2B534EF42673}" type="sibTrans" cxnId="{1977DE12-A99E-44A1-B00C-90230C3AD502}">
      <dgm:prSet/>
      <dgm:spPr/>
    </dgm:pt>
    <dgm:pt modelId="{9DCB03D6-D037-47C3-845A-B1C6F59B2B62}">
      <dgm:prSet phldr="0"/>
      <dgm:spPr/>
      <dgm:t>
        <a:bodyPr/>
        <a:lstStyle/>
        <a:p>
          <a:pPr rtl="0"/>
          <a:r>
            <a:rPr lang="en-US" sz="1800" dirty="0">
              <a:solidFill>
                <a:schemeClr val="tx1"/>
              </a:solidFill>
              <a:latin typeface="Century Gothic" panose="020B0502020202020204"/>
            </a:rPr>
            <a:t>LCOE heatmap of PV potential</a:t>
          </a:r>
          <a:endParaRPr lang="en-US" dirty="0"/>
        </a:p>
      </dgm:t>
    </dgm:pt>
    <dgm:pt modelId="{DD5165AC-258C-4519-B4F6-B6D0EB423FFE}" type="parTrans" cxnId="{368F0826-82EF-4BA7-9613-81EC44445A2F}">
      <dgm:prSet/>
      <dgm:spPr/>
    </dgm:pt>
    <dgm:pt modelId="{0896D2A1-A5D2-4024-8C76-BE1D4FB648A2}" type="sibTrans" cxnId="{368F0826-82EF-4BA7-9613-81EC44445A2F}">
      <dgm:prSet/>
      <dgm:spPr/>
    </dgm:pt>
    <dgm:pt modelId="{29A1661A-2893-4A66-B24F-7A281481F384}" type="pres">
      <dgm:prSet presAssocID="{B68B8282-E656-49AE-AAD7-C6AB8849A791}" presName="Name0" presStyleCnt="0">
        <dgm:presLayoutVars>
          <dgm:dir/>
          <dgm:resizeHandles val="exact"/>
        </dgm:presLayoutVars>
      </dgm:prSet>
      <dgm:spPr/>
    </dgm:pt>
    <dgm:pt modelId="{9080495E-5CF1-44CE-B79C-BB545CDEE1EC}" type="pres">
      <dgm:prSet presAssocID="{FB01492B-7F62-4AC3-B1C3-B6023272FF0D}" presName="node" presStyleLbl="node1" presStyleIdx="0" presStyleCnt="4">
        <dgm:presLayoutVars>
          <dgm:bulletEnabled val="1"/>
        </dgm:presLayoutVars>
      </dgm:prSet>
      <dgm:spPr/>
    </dgm:pt>
    <dgm:pt modelId="{6E947F49-981C-4A04-9C17-55DB5CCC1CD8}" type="pres">
      <dgm:prSet presAssocID="{FA1B7116-1EFE-44C4-8842-685220B398E3}" presName="sibTrans" presStyleLbl="sibTrans1D1" presStyleIdx="0" presStyleCnt="3"/>
      <dgm:spPr/>
    </dgm:pt>
    <dgm:pt modelId="{98AB0646-8DA7-4926-BBFE-FD4531444334}" type="pres">
      <dgm:prSet presAssocID="{FA1B7116-1EFE-44C4-8842-685220B398E3}" presName="connectorText" presStyleLbl="sibTrans1D1" presStyleIdx="0" presStyleCnt="3"/>
      <dgm:spPr/>
    </dgm:pt>
    <dgm:pt modelId="{745CDA5B-BDDD-4317-8BDA-075B2E7A89A7}" type="pres">
      <dgm:prSet presAssocID="{1D2C5501-4A8C-40D3-A607-6B85F5C6D842}" presName="node" presStyleLbl="node1" presStyleIdx="1" presStyleCnt="4">
        <dgm:presLayoutVars>
          <dgm:bulletEnabled val="1"/>
        </dgm:presLayoutVars>
      </dgm:prSet>
      <dgm:spPr/>
    </dgm:pt>
    <dgm:pt modelId="{23104474-A8DF-4A73-946D-FEE1A6794FD7}" type="pres">
      <dgm:prSet presAssocID="{0DE1F499-C7BF-490D-A1D1-719BBFB8E8B8}" presName="sibTrans" presStyleLbl="sibTrans1D1" presStyleIdx="1" presStyleCnt="3"/>
      <dgm:spPr/>
    </dgm:pt>
    <dgm:pt modelId="{40861DBF-22DF-430B-BEC3-FE60B8212388}" type="pres">
      <dgm:prSet presAssocID="{0DE1F499-C7BF-490D-A1D1-719BBFB8E8B8}" presName="connectorText" presStyleLbl="sibTrans1D1" presStyleIdx="1" presStyleCnt="3"/>
      <dgm:spPr/>
    </dgm:pt>
    <dgm:pt modelId="{48EE4858-DB04-40AC-9336-7CB7A31BA8A9}" type="pres">
      <dgm:prSet presAssocID="{70A4DBDC-D1F2-4681-B961-ACDED9D82735}" presName="node" presStyleLbl="node1" presStyleIdx="2" presStyleCnt="4">
        <dgm:presLayoutVars>
          <dgm:bulletEnabled val="1"/>
        </dgm:presLayoutVars>
      </dgm:prSet>
      <dgm:spPr/>
    </dgm:pt>
    <dgm:pt modelId="{07F2D411-AE9C-4F4A-9191-691228D0AC68}" type="pres">
      <dgm:prSet presAssocID="{7A2F11E6-E28E-4CD9-8624-6C202CFFED36}" presName="sibTrans" presStyleLbl="sibTrans1D1" presStyleIdx="2" presStyleCnt="3"/>
      <dgm:spPr/>
    </dgm:pt>
    <dgm:pt modelId="{5EC275C5-6AA5-4AFA-9D1A-6DF3DD8DD896}" type="pres">
      <dgm:prSet presAssocID="{7A2F11E6-E28E-4CD9-8624-6C202CFFED36}" presName="connectorText" presStyleLbl="sibTrans1D1" presStyleIdx="2" presStyleCnt="3"/>
      <dgm:spPr/>
    </dgm:pt>
    <dgm:pt modelId="{4DCC9FEF-DED6-4EDA-B539-54F733A4E0A5}" type="pres">
      <dgm:prSet presAssocID="{319C110A-8D68-4506-9F76-B8481AE977EC}" presName="node" presStyleLbl="node1" presStyleIdx="3" presStyleCnt="4">
        <dgm:presLayoutVars>
          <dgm:bulletEnabled val="1"/>
        </dgm:presLayoutVars>
      </dgm:prSet>
      <dgm:spPr/>
    </dgm:pt>
  </dgm:ptLst>
  <dgm:cxnLst>
    <dgm:cxn modelId="{2B31BE10-7BE1-4686-A533-0A76F4A4C868}" type="presOf" srcId="{6EA444AB-0A11-44D7-89FB-D245AF61ADFB}" destId="{745CDA5B-BDDD-4317-8BDA-075B2E7A89A7}" srcOrd="0" destOrd="4" presId="urn:microsoft.com/office/officeart/2005/8/layout/bProcess3"/>
    <dgm:cxn modelId="{1977DE12-A99E-44A1-B00C-90230C3AD502}" srcId="{319C110A-8D68-4506-9F76-B8481AE977EC}" destId="{C13F6A9C-D9D3-4E79-B763-3B8FF03D0295}" srcOrd="1" destOrd="0" parTransId="{8EDCDD73-2344-4056-837C-37A92C20DCAC}" sibTransId="{E439D34F-A56C-48AC-B118-2B534EF42673}"/>
    <dgm:cxn modelId="{B0DFD714-D1AB-4167-B51B-DEF4B85DA272}" type="presOf" srcId="{C13F6A9C-D9D3-4E79-B763-3B8FF03D0295}" destId="{4DCC9FEF-DED6-4EDA-B539-54F733A4E0A5}" srcOrd="0" destOrd="2" presId="urn:microsoft.com/office/officeart/2005/8/layout/bProcess3"/>
    <dgm:cxn modelId="{0000C715-6920-4B94-9FB6-357CB1C89417}" srcId="{70A4DBDC-D1F2-4681-B961-ACDED9D82735}" destId="{E0A7001F-5074-48DA-9618-F4305A5F37EB}" srcOrd="0" destOrd="0" parTransId="{C8103267-33B0-4B5E-9EF7-FDAC472A8931}" sibTransId="{1E78B238-C26A-44CC-BC52-2479224F454C}"/>
    <dgm:cxn modelId="{B35BBA16-3A46-4E83-88AE-1E07E37BD84F}" type="presOf" srcId="{B68B8282-E656-49AE-AAD7-C6AB8849A791}" destId="{29A1661A-2893-4A66-B24F-7A281481F384}" srcOrd="0" destOrd="0" presId="urn:microsoft.com/office/officeart/2005/8/layout/bProcess3"/>
    <dgm:cxn modelId="{04F63B18-4ABA-47E5-8E0F-234DB4F14FAB}" srcId="{FB01492B-7F62-4AC3-B1C3-B6023272FF0D}" destId="{2F60BBE7-139C-46AB-9F2D-BEACCBA68671}" srcOrd="0" destOrd="0" parTransId="{A6C9B144-D18A-4ADE-9650-E781AF059FC9}" sibTransId="{FE409BA4-3584-405D-85B0-D334CAC78F0B}"/>
    <dgm:cxn modelId="{C048D225-6C23-40FA-A48E-F2FF932B1466}" type="presOf" srcId="{7A2F11E6-E28E-4CD9-8624-6C202CFFED36}" destId="{5EC275C5-6AA5-4AFA-9D1A-6DF3DD8DD896}" srcOrd="1" destOrd="0" presId="urn:microsoft.com/office/officeart/2005/8/layout/bProcess3"/>
    <dgm:cxn modelId="{368F0826-82EF-4BA7-9613-81EC44445A2F}" srcId="{319C110A-8D68-4506-9F76-B8481AE977EC}" destId="{9DCB03D6-D037-47C3-845A-B1C6F59B2B62}" srcOrd="2" destOrd="0" parTransId="{DD5165AC-258C-4519-B4F6-B6D0EB423FFE}" sibTransId="{0896D2A1-A5D2-4024-8C76-BE1D4FB648A2}"/>
    <dgm:cxn modelId="{87158828-A3DE-4D69-A49B-3968CE94D4CA}" type="presOf" srcId="{319C110A-8D68-4506-9F76-B8481AE977EC}" destId="{4DCC9FEF-DED6-4EDA-B539-54F733A4E0A5}" srcOrd="0" destOrd="0" presId="urn:microsoft.com/office/officeart/2005/8/layout/bProcess3"/>
    <dgm:cxn modelId="{CB07E52E-EB55-468D-A2F1-B771B1FC2171}" type="presOf" srcId="{2F60BBE7-139C-46AB-9F2D-BEACCBA68671}" destId="{9080495E-5CF1-44CE-B79C-BB545CDEE1EC}" srcOrd="0" destOrd="1" presId="urn:microsoft.com/office/officeart/2005/8/layout/bProcess3"/>
    <dgm:cxn modelId="{86BC5F30-AC33-4112-86C7-9E06990D4C0A}" type="presOf" srcId="{FAFBF982-D524-42FF-91B9-6649BC66A8C5}" destId="{745CDA5B-BDDD-4317-8BDA-075B2E7A89A7}" srcOrd="0" destOrd="2" presId="urn:microsoft.com/office/officeart/2005/8/layout/bProcess3"/>
    <dgm:cxn modelId="{32070D5C-BAE6-4A2F-89DF-B29636D712E0}" type="presOf" srcId="{976CA992-D59D-4956-8352-C2811AC1FA47}" destId="{48EE4858-DB04-40AC-9336-7CB7A31BA8A9}" srcOrd="0" destOrd="2" presId="urn:microsoft.com/office/officeart/2005/8/layout/bProcess3"/>
    <dgm:cxn modelId="{83B22051-E2B9-4E69-A688-265B29F4A07F}" srcId="{1D2C5501-4A8C-40D3-A607-6B85F5C6D842}" destId="{6EA444AB-0A11-44D7-89FB-D245AF61ADFB}" srcOrd="3" destOrd="0" parTransId="{65152631-59F6-4A39-B391-1DD83CC428A1}" sibTransId="{29B06B42-ED70-4C34-8EEB-2CAA76D30A76}"/>
    <dgm:cxn modelId="{71C94552-9FF9-4D09-A8E0-DB0A23112521}" type="presOf" srcId="{FB01492B-7F62-4AC3-B1C3-B6023272FF0D}" destId="{9080495E-5CF1-44CE-B79C-BB545CDEE1EC}" srcOrd="0" destOrd="0" presId="urn:microsoft.com/office/officeart/2005/8/layout/bProcess3"/>
    <dgm:cxn modelId="{F8F27576-76C3-42EE-BC64-1416433F91B7}" type="presOf" srcId="{49CA0DE2-A442-4E01-95E5-3B6DC572DFD3}" destId="{745CDA5B-BDDD-4317-8BDA-075B2E7A89A7}" srcOrd="0" destOrd="5" presId="urn:microsoft.com/office/officeart/2005/8/layout/bProcess3"/>
    <dgm:cxn modelId="{E6E1FD59-EADC-4C8D-92D5-96A86B115BF7}" srcId="{B68B8282-E656-49AE-AAD7-C6AB8849A791}" destId="{70A4DBDC-D1F2-4681-B961-ACDED9D82735}" srcOrd="2" destOrd="0" parTransId="{951407AD-EBF0-44FC-B252-6286EDC69DED}" sibTransId="{7A2F11E6-E28E-4CD9-8624-6C202CFFED36}"/>
    <dgm:cxn modelId="{98C4977D-BB92-44DE-BBC2-00ECC3C21D3D}" srcId="{70A4DBDC-D1F2-4681-B961-ACDED9D82735}" destId="{15FF50D5-FC41-485B-A03D-B0AF0B05ADE3}" srcOrd="2" destOrd="0" parTransId="{8C333445-2A4F-4E7E-864C-D6E69B6D05F5}" sibTransId="{61FBC300-4AB6-42CC-B097-C3C8B1DEF745}"/>
    <dgm:cxn modelId="{43F60080-B2FA-45FA-A684-4269472F0FFA}" type="presOf" srcId="{C1B8A333-D480-436F-AF29-DA849CE55F8B}" destId="{745CDA5B-BDDD-4317-8BDA-075B2E7A89A7}" srcOrd="0" destOrd="1" presId="urn:microsoft.com/office/officeart/2005/8/layout/bProcess3"/>
    <dgm:cxn modelId="{19FB8182-06A5-46EA-87BC-65B97D79C9A1}" srcId="{1D2C5501-4A8C-40D3-A607-6B85F5C6D842}" destId="{FAFBF982-D524-42FF-91B9-6649BC66A8C5}" srcOrd="1" destOrd="0" parTransId="{D13BD7A6-8009-4430-9891-C1459EA2CB47}" sibTransId="{D44D0D15-83EE-4309-AE57-3088139A0339}"/>
    <dgm:cxn modelId="{D13ECF88-3AD1-4632-A84F-AB8BCAA323AF}" type="presOf" srcId="{FA1B7116-1EFE-44C4-8842-685220B398E3}" destId="{6E947F49-981C-4A04-9C17-55DB5CCC1CD8}" srcOrd="0" destOrd="0" presId="urn:microsoft.com/office/officeart/2005/8/layout/bProcess3"/>
    <dgm:cxn modelId="{78331B8B-CD54-4DE5-932B-94572A5D9F9C}" srcId="{B68B8282-E656-49AE-AAD7-C6AB8849A791}" destId="{319C110A-8D68-4506-9F76-B8481AE977EC}" srcOrd="3" destOrd="0" parTransId="{A7E33E89-5053-4D65-85E2-BB1986E55E82}" sibTransId="{6BA7AF73-F72E-4DB1-902A-4C254DB3471C}"/>
    <dgm:cxn modelId="{8B73D68C-DB38-46E3-ADDD-7F823A6887BC}" type="presOf" srcId="{0DE1F499-C7BF-490D-A1D1-719BBFB8E8B8}" destId="{23104474-A8DF-4A73-946D-FEE1A6794FD7}" srcOrd="0" destOrd="0" presId="urn:microsoft.com/office/officeart/2005/8/layout/bProcess3"/>
    <dgm:cxn modelId="{97869DA2-DBD4-429D-83EA-0A9F437326A5}" type="presOf" srcId="{3B42C594-4D76-431B-949D-24A4F72C1C03}" destId="{9080495E-5CF1-44CE-B79C-BB545CDEE1EC}" srcOrd="0" destOrd="2" presId="urn:microsoft.com/office/officeart/2005/8/layout/bProcess3"/>
    <dgm:cxn modelId="{05325DAD-3000-4176-8EAD-93DB439BBCB5}" srcId="{1D2C5501-4A8C-40D3-A607-6B85F5C6D842}" destId="{49CA0DE2-A442-4E01-95E5-3B6DC572DFD3}" srcOrd="4" destOrd="0" parTransId="{36AFE869-74B9-4532-A5D7-F9F46DA1ECF5}" sibTransId="{DED49C76-79D0-4BCF-BF5C-36208F340638}"/>
    <dgm:cxn modelId="{878C4FB2-D33B-4A89-BC21-F43F7D3CEEA2}" type="presOf" srcId="{70A4DBDC-D1F2-4681-B961-ACDED9D82735}" destId="{48EE4858-DB04-40AC-9336-7CB7A31BA8A9}" srcOrd="0" destOrd="0" presId="urn:microsoft.com/office/officeart/2005/8/layout/bProcess3"/>
    <dgm:cxn modelId="{C64279B8-B70B-4740-9D8F-C15F72ACBD9B}" type="presOf" srcId="{0DE1F499-C7BF-490D-A1D1-719BBFB8E8B8}" destId="{40861DBF-22DF-430B-BEC3-FE60B8212388}" srcOrd="1" destOrd="0" presId="urn:microsoft.com/office/officeart/2005/8/layout/bProcess3"/>
    <dgm:cxn modelId="{8CE4F9BA-A1DC-4EC2-8A21-1EA5A463F86E}" srcId="{FB01492B-7F62-4AC3-B1C3-B6023272FF0D}" destId="{3B42C594-4D76-431B-949D-24A4F72C1C03}" srcOrd="1" destOrd="0" parTransId="{B10A5435-59C1-4F09-B4ED-D33EC2249FEB}" sibTransId="{062AE8D7-D3D3-4AE8-9DBA-340B8CD28D1D}"/>
    <dgm:cxn modelId="{F48F28BB-1EF9-4767-8E77-00A08AF869AA}" type="presOf" srcId="{15FF50D5-FC41-485B-A03D-B0AF0B05ADE3}" destId="{48EE4858-DB04-40AC-9336-7CB7A31BA8A9}" srcOrd="0" destOrd="3" presId="urn:microsoft.com/office/officeart/2005/8/layout/bProcess3"/>
    <dgm:cxn modelId="{5E89BABE-4864-4318-9019-E4679E18E1CE}" srcId="{1D2C5501-4A8C-40D3-A607-6B85F5C6D842}" destId="{C1B8A333-D480-436F-AF29-DA849CE55F8B}" srcOrd="0" destOrd="0" parTransId="{376AD4C3-C039-46C0-AADB-04815AC489C5}" sibTransId="{BD5B2A8C-D04D-476E-911A-E8338FF88905}"/>
    <dgm:cxn modelId="{5E1FC3BE-2858-4574-A9D4-0A382F505239}" type="presOf" srcId="{1D2C5501-4A8C-40D3-A607-6B85F5C6D842}" destId="{745CDA5B-BDDD-4317-8BDA-075B2E7A89A7}" srcOrd="0" destOrd="0" presId="urn:microsoft.com/office/officeart/2005/8/layout/bProcess3"/>
    <dgm:cxn modelId="{54F226CE-9263-4707-97F0-7961C33CA509}" srcId="{319C110A-8D68-4506-9F76-B8481AE977EC}" destId="{F1AA7E32-27A9-461C-928A-4152EACF92AC}" srcOrd="0" destOrd="0" parTransId="{C9BFA40A-1908-43BC-A48B-F82737F1D78E}" sibTransId="{DDDF47BE-7FE4-426E-A9F1-CA55F728CD80}"/>
    <dgm:cxn modelId="{517D56CF-C1B1-4164-903F-A447DDED0BAD}" type="presOf" srcId="{9DCB03D6-D037-47C3-845A-B1C6F59B2B62}" destId="{4DCC9FEF-DED6-4EDA-B539-54F733A4E0A5}" srcOrd="0" destOrd="3" presId="urn:microsoft.com/office/officeart/2005/8/layout/bProcess3"/>
    <dgm:cxn modelId="{DF4CB5D7-460E-4179-9F6C-4B94422118D7}" type="presOf" srcId="{FA1B7116-1EFE-44C4-8842-685220B398E3}" destId="{98AB0646-8DA7-4926-BBFE-FD4531444334}" srcOrd="1" destOrd="0" presId="urn:microsoft.com/office/officeart/2005/8/layout/bProcess3"/>
    <dgm:cxn modelId="{EB3CC1DA-AE84-42B8-8D6D-864F7AB96C57}" srcId="{B68B8282-E656-49AE-AAD7-C6AB8849A791}" destId="{FB01492B-7F62-4AC3-B1C3-B6023272FF0D}" srcOrd="0" destOrd="0" parTransId="{657B1D1A-BFED-41A1-8F76-E3821E78D073}" sibTransId="{FA1B7116-1EFE-44C4-8842-685220B398E3}"/>
    <dgm:cxn modelId="{FA9B0FDC-442B-4022-8C53-9C42A43AB682}" srcId="{1D2C5501-4A8C-40D3-A607-6B85F5C6D842}" destId="{5C02B9EE-5FC7-45CD-9625-115CE7A3A1AB}" srcOrd="2" destOrd="0" parTransId="{90CAE406-5A46-4133-8457-BC7F40E3BE13}" sibTransId="{7E9F29E1-7212-4115-B6ED-5F63A2A2D5B4}"/>
    <dgm:cxn modelId="{D86BE6E1-562F-4089-9234-58233AFA1B37}" srcId="{B68B8282-E656-49AE-AAD7-C6AB8849A791}" destId="{1D2C5501-4A8C-40D3-A607-6B85F5C6D842}" srcOrd="1" destOrd="0" parTransId="{C7E990D8-4897-4C95-82A8-4D21B7D2F1DE}" sibTransId="{0DE1F499-C7BF-490D-A1D1-719BBFB8E8B8}"/>
    <dgm:cxn modelId="{749930E6-E7B2-4849-B37F-A7B783BE66A2}" type="presOf" srcId="{5C02B9EE-5FC7-45CD-9625-115CE7A3A1AB}" destId="{745CDA5B-BDDD-4317-8BDA-075B2E7A89A7}" srcOrd="0" destOrd="3" presId="urn:microsoft.com/office/officeart/2005/8/layout/bProcess3"/>
    <dgm:cxn modelId="{F1870DE9-8AB7-4DEB-9F06-B5E4B70C8A9A}" srcId="{70A4DBDC-D1F2-4681-B961-ACDED9D82735}" destId="{976CA992-D59D-4956-8352-C2811AC1FA47}" srcOrd="1" destOrd="0" parTransId="{63DE87E2-F1F5-4D8D-B9F1-426805A6F5CF}" sibTransId="{6DD6C14F-AF79-40DD-8D83-70B7C26B46F8}"/>
    <dgm:cxn modelId="{19DA8BEB-6A50-41D6-989A-1DCA4C449C8E}" type="presOf" srcId="{F1AA7E32-27A9-461C-928A-4152EACF92AC}" destId="{4DCC9FEF-DED6-4EDA-B539-54F733A4E0A5}" srcOrd="0" destOrd="1" presId="urn:microsoft.com/office/officeart/2005/8/layout/bProcess3"/>
    <dgm:cxn modelId="{37DB0CEF-42FD-4399-A297-D5CC72D5139C}" type="presOf" srcId="{E0A7001F-5074-48DA-9618-F4305A5F37EB}" destId="{48EE4858-DB04-40AC-9336-7CB7A31BA8A9}" srcOrd="0" destOrd="1" presId="urn:microsoft.com/office/officeart/2005/8/layout/bProcess3"/>
    <dgm:cxn modelId="{278D91FA-6F27-43A6-AED2-B82727EAD0D6}" type="presOf" srcId="{7A2F11E6-E28E-4CD9-8624-6C202CFFED36}" destId="{07F2D411-AE9C-4F4A-9191-691228D0AC68}" srcOrd="0" destOrd="0" presId="urn:microsoft.com/office/officeart/2005/8/layout/bProcess3"/>
    <dgm:cxn modelId="{E3266E6C-1208-4C0B-8427-A8DA61E84BD6}" type="presParOf" srcId="{29A1661A-2893-4A66-B24F-7A281481F384}" destId="{9080495E-5CF1-44CE-B79C-BB545CDEE1EC}" srcOrd="0" destOrd="0" presId="urn:microsoft.com/office/officeart/2005/8/layout/bProcess3"/>
    <dgm:cxn modelId="{8D993EDD-6849-4B42-BE48-ED37EF2DC947}" type="presParOf" srcId="{29A1661A-2893-4A66-B24F-7A281481F384}" destId="{6E947F49-981C-4A04-9C17-55DB5CCC1CD8}" srcOrd="1" destOrd="0" presId="urn:microsoft.com/office/officeart/2005/8/layout/bProcess3"/>
    <dgm:cxn modelId="{4C0D60AE-3BBB-487C-8F5D-680DDB00AF87}" type="presParOf" srcId="{6E947F49-981C-4A04-9C17-55DB5CCC1CD8}" destId="{98AB0646-8DA7-4926-BBFE-FD4531444334}" srcOrd="0" destOrd="0" presId="urn:microsoft.com/office/officeart/2005/8/layout/bProcess3"/>
    <dgm:cxn modelId="{A9BFDD24-5C98-4B00-9DA7-F9F4AFAC0029}" type="presParOf" srcId="{29A1661A-2893-4A66-B24F-7A281481F384}" destId="{745CDA5B-BDDD-4317-8BDA-075B2E7A89A7}" srcOrd="2" destOrd="0" presId="urn:microsoft.com/office/officeart/2005/8/layout/bProcess3"/>
    <dgm:cxn modelId="{DE68B5BF-7478-424D-BF78-E4F7BECFDA1C}" type="presParOf" srcId="{29A1661A-2893-4A66-B24F-7A281481F384}" destId="{23104474-A8DF-4A73-946D-FEE1A6794FD7}" srcOrd="3" destOrd="0" presId="urn:microsoft.com/office/officeart/2005/8/layout/bProcess3"/>
    <dgm:cxn modelId="{BDE26EF3-F9AD-4EFE-A164-4CFA1A002E98}" type="presParOf" srcId="{23104474-A8DF-4A73-946D-FEE1A6794FD7}" destId="{40861DBF-22DF-430B-BEC3-FE60B8212388}" srcOrd="0" destOrd="0" presId="urn:microsoft.com/office/officeart/2005/8/layout/bProcess3"/>
    <dgm:cxn modelId="{562638B2-A78B-4B39-8DAA-B97687EFFC39}" type="presParOf" srcId="{29A1661A-2893-4A66-B24F-7A281481F384}" destId="{48EE4858-DB04-40AC-9336-7CB7A31BA8A9}" srcOrd="4" destOrd="0" presId="urn:microsoft.com/office/officeart/2005/8/layout/bProcess3"/>
    <dgm:cxn modelId="{930A9F87-EDCD-4553-839A-88CD1D532296}" type="presParOf" srcId="{29A1661A-2893-4A66-B24F-7A281481F384}" destId="{07F2D411-AE9C-4F4A-9191-691228D0AC68}" srcOrd="5" destOrd="0" presId="urn:microsoft.com/office/officeart/2005/8/layout/bProcess3"/>
    <dgm:cxn modelId="{30E7FF75-45EC-4B30-83A3-D8BF8CC0E260}" type="presParOf" srcId="{07F2D411-AE9C-4F4A-9191-691228D0AC68}" destId="{5EC275C5-6AA5-4AFA-9D1A-6DF3DD8DD896}" srcOrd="0" destOrd="0" presId="urn:microsoft.com/office/officeart/2005/8/layout/bProcess3"/>
    <dgm:cxn modelId="{742BC64A-48A3-4623-AA16-8D1BF2ABF36A}" type="presParOf" srcId="{29A1661A-2893-4A66-B24F-7A281481F384}" destId="{4DCC9FEF-DED6-4EDA-B539-54F733A4E0A5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FE4CFC-C2C3-4E8E-B3C0-4E94557F4DD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390FC61-079E-494B-A9F2-9ACB04ABEEDD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Easily available data</a:t>
          </a:r>
        </a:p>
      </dgm:t>
    </dgm:pt>
    <dgm:pt modelId="{F1CD7CD0-2FA9-480E-92F9-EEF624FE90A1}" type="parTrans" cxnId="{ECAE2547-37F1-48B8-9A48-7397EC50315E}">
      <dgm:prSet/>
      <dgm:spPr/>
    </dgm:pt>
    <dgm:pt modelId="{5028AA59-F9B5-49FE-9591-4056060570C2}" type="sibTrans" cxnId="{ECAE2547-37F1-48B8-9A48-7397EC50315E}">
      <dgm:prSet/>
      <dgm:spPr/>
    </dgm:pt>
    <dgm:pt modelId="{E906238C-B2E2-42F1-94B2-2D39F626C742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Code was adaptable and worked well</a:t>
          </a:r>
        </a:p>
      </dgm:t>
    </dgm:pt>
    <dgm:pt modelId="{2CF8CFA1-C1DE-4875-9DE1-F91BB96C059A}" type="parTrans" cxnId="{38C9823F-3FA1-40DE-A0C3-493A2B2B118C}">
      <dgm:prSet/>
      <dgm:spPr/>
    </dgm:pt>
    <dgm:pt modelId="{1DBCCBBA-9573-4AAF-866E-7073A024BCA0}" type="sibTrans" cxnId="{38C9823F-3FA1-40DE-A0C3-493A2B2B118C}">
      <dgm:prSet/>
      <dgm:spPr/>
    </dgm:pt>
    <dgm:pt modelId="{5C2D2488-B466-4838-A4E1-4F4B7633BCE7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Formulas in the paper made calculation steps clear</a:t>
          </a:r>
        </a:p>
      </dgm:t>
    </dgm:pt>
    <dgm:pt modelId="{D9460420-41B1-4DBB-8BC0-A4DBCB76CF27}" type="parTrans" cxnId="{60B0F493-E521-466C-9D1F-146659BBC4DA}">
      <dgm:prSet/>
      <dgm:spPr/>
    </dgm:pt>
    <dgm:pt modelId="{8281999B-78DA-4AC8-8907-EF612EA44402}" type="sibTrans" cxnId="{60B0F493-E521-466C-9D1F-146659BBC4DA}">
      <dgm:prSet/>
      <dgm:spPr/>
    </dgm:pt>
    <dgm:pt modelId="{EEAB2B2F-33DF-4386-9681-84BFDB5BB80B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Corine Landcover could also be included</a:t>
          </a:r>
        </a:p>
      </dgm:t>
    </dgm:pt>
    <dgm:pt modelId="{DDBDCA53-8337-4E40-BF3F-0BBD2645E8A2}" type="parTrans" cxnId="{B73C71F4-DE02-403B-B066-63CE79019D91}">
      <dgm:prSet/>
      <dgm:spPr/>
    </dgm:pt>
    <dgm:pt modelId="{0F2D071E-E03C-4B4F-9A9D-E3579BEEB3C1}" type="sibTrans" cxnId="{B73C71F4-DE02-403B-B066-63CE79019D91}">
      <dgm:prSet/>
      <dgm:spPr/>
    </dgm:pt>
    <dgm:pt modelId="{4C04E4BB-216B-4D01-92A8-98ACCEA4D818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Agricultural land as exclusion</a:t>
          </a:r>
        </a:p>
      </dgm:t>
    </dgm:pt>
    <dgm:pt modelId="{EF24411E-A304-4C7D-9ABC-02C24E354D96}" type="parTrans" cxnId="{FF6D1FEB-4C5F-4767-8F41-64A2B62C2CDE}">
      <dgm:prSet/>
      <dgm:spPr/>
    </dgm:pt>
    <dgm:pt modelId="{9F795109-6AF5-4374-BE55-EB7340F4FC00}" type="sibTrans" cxnId="{FF6D1FEB-4C5F-4767-8F41-64A2B62C2CDE}">
      <dgm:prSet/>
      <dgm:spPr/>
    </dgm:pt>
    <dgm:pt modelId="{7CC470D3-E7FB-4175-A22E-932FF0637D0F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Data was often reprojected</a:t>
          </a:r>
        </a:p>
      </dgm:t>
    </dgm:pt>
    <dgm:pt modelId="{450D6000-21B7-46C9-8042-3F2166F7A1F0}" type="parTrans" cxnId="{638C9FFA-BFD0-4540-8573-ACAADC0D6F16}">
      <dgm:prSet/>
      <dgm:spPr/>
    </dgm:pt>
    <dgm:pt modelId="{68C6318D-B371-4E23-9EBD-9974BA37BCA3}" type="sibTrans" cxnId="{638C9FFA-BFD0-4540-8573-ACAADC0D6F16}">
      <dgm:prSet/>
      <dgm:spPr/>
    </dgm:pt>
    <dgm:pt modelId="{B170E9C3-E550-44A3-A903-8FB872F17FA3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New raster file later on</a:t>
          </a:r>
        </a:p>
      </dgm:t>
    </dgm:pt>
    <dgm:pt modelId="{279FBB23-2B8E-4CE2-9C3B-CF60E15D3904}" type="parTrans" cxnId="{3A094C68-C745-4BDB-91B0-0188F4108ECC}">
      <dgm:prSet/>
      <dgm:spPr/>
    </dgm:pt>
    <dgm:pt modelId="{398FDA7E-A9C8-4D59-BF37-2A982570D9C3}" type="sibTrans" cxnId="{3A094C68-C745-4BDB-91B0-0188F4108ECC}">
      <dgm:prSet/>
      <dgm:spPr/>
    </dgm:pt>
    <dgm:pt modelId="{65847D49-6BF8-4529-9D31-171F07349120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Control of right coordinate system (otherwise reprojection)</a:t>
          </a:r>
        </a:p>
      </dgm:t>
    </dgm:pt>
    <dgm:pt modelId="{BC09F93E-6A96-48A5-A89D-D94EF44A3261}" type="parTrans" cxnId="{CE475399-506B-4A19-9004-17639B277A8B}">
      <dgm:prSet/>
      <dgm:spPr/>
    </dgm:pt>
    <dgm:pt modelId="{8BC2F010-3F43-49DE-B15E-3D23AB3B7A55}" type="sibTrans" cxnId="{CE475399-506B-4A19-9004-17639B277A8B}">
      <dgm:prSet/>
      <dgm:spPr/>
    </dgm:pt>
    <dgm:pt modelId="{D91EC15B-81C8-4E05-B3F0-DD9214B56E28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Input handling was difficult (different file paths etc.)</a:t>
          </a:r>
        </a:p>
      </dgm:t>
    </dgm:pt>
    <dgm:pt modelId="{35425B0B-F8E7-40EB-A71A-90669A92ABAB}" type="parTrans" cxnId="{5FCABE33-66F3-41A8-8D8A-61298DF24165}">
      <dgm:prSet/>
      <dgm:spPr/>
    </dgm:pt>
    <dgm:pt modelId="{2357F11B-0338-4889-83DD-550CA47AC9D3}" type="sibTrans" cxnId="{5FCABE33-66F3-41A8-8D8A-61298DF24165}">
      <dgm:prSet/>
      <dgm:spPr/>
    </dgm:pt>
    <dgm:pt modelId="{C7E93D81-8CAB-46F6-ADDD-F67644786783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Map of all excluded datasets could be added</a:t>
          </a:r>
        </a:p>
      </dgm:t>
    </dgm:pt>
    <dgm:pt modelId="{7995B815-0E9F-4993-8114-D0BD03A3D6E1}" type="parTrans" cxnId="{C627EA80-9A1B-4944-AB70-EE26D0A9DD0D}">
      <dgm:prSet/>
      <dgm:spPr/>
    </dgm:pt>
    <dgm:pt modelId="{E20C6D49-4932-41D8-B5D4-C96E4C344254}" type="sibTrans" cxnId="{C627EA80-9A1B-4944-AB70-EE26D0A9DD0D}">
      <dgm:prSet/>
      <dgm:spPr/>
    </dgm:pt>
    <dgm:pt modelId="{C002464D-C133-4D3E-B354-0D4DC1314AAE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800" dirty="0">
              <a:latin typeface="Century Gothic" panose="020B0502020202020204"/>
              <a:ea typeface="+mn-ea"/>
              <a:cs typeface="+mn-cs"/>
            </a:rPr>
            <a:t>Could have been done for whole Styria</a:t>
          </a:r>
        </a:p>
      </dgm:t>
    </dgm:pt>
    <dgm:pt modelId="{477A136D-522B-4280-910A-172AF9C4DE94}" type="parTrans" cxnId="{AA362FE9-6EF3-4A32-A4E5-7B6344195C8D}">
      <dgm:prSet/>
      <dgm:spPr/>
    </dgm:pt>
    <dgm:pt modelId="{29960601-6F1D-4CFC-BCEC-28A89234FF87}" type="sibTrans" cxnId="{AA362FE9-6EF3-4A32-A4E5-7B6344195C8D}">
      <dgm:prSet/>
      <dgm:spPr/>
    </dgm:pt>
    <dgm:pt modelId="{B3B00A38-0581-475E-B3B8-28D3E4AEE38F}" type="pres">
      <dgm:prSet presAssocID="{70FE4CFC-C2C3-4E8E-B3C0-4E94557F4DD7}" presName="linear" presStyleCnt="0">
        <dgm:presLayoutVars>
          <dgm:animLvl val="lvl"/>
          <dgm:resizeHandles val="exact"/>
        </dgm:presLayoutVars>
      </dgm:prSet>
      <dgm:spPr/>
    </dgm:pt>
    <dgm:pt modelId="{91C6574E-4C68-40C9-9513-CA84051FBB0C}" type="pres">
      <dgm:prSet presAssocID="{6390FC61-079E-494B-A9F2-9ACB04ABEED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461E63F9-9EFA-4332-BA7A-65900B24C31D}" type="pres">
      <dgm:prSet presAssocID="{5028AA59-F9B5-49FE-9591-4056060570C2}" presName="spacer" presStyleCnt="0"/>
      <dgm:spPr/>
    </dgm:pt>
    <dgm:pt modelId="{B695A160-2F27-4276-A11F-B1A2C1D0E744}" type="pres">
      <dgm:prSet presAssocID="{E906238C-B2E2-42F1-94B2-2D39F626C74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656E149-24A1-416E-8F66-5B90CE7AF459}" type="pres">
      <dgm:prSet presAssocID="{1DBCCBBA-9573-4AAF-866E-7073A024BCA0}" presName="spacer" presStyleCnt="0"/>
      <dgm:spPr/>
    </dgm:pt>
    <dgm:pt modelId="{8B05B7ED-58A5-4544-8B4D-D8629FC37023}" type="pres">
      <dgm:prSet presAssocID="{5C2D2488-B466-4838-A4E1-4F4B7633BCE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29CCBA7-7385-4E95-8A56-9EF726B08CC2}" type="pres">
      <dgm:prSet presAssocID="{8281999B-78DA-4AC8-8907-EF612EA44402}" presName="spacer" presStyleCnt="0"/>
      <dgm:spPr/>
    </dgm:pt>
    <dgm:pt modelId="{263AD392-E2DC-4844-997E-8EAA5DCDF0AC}" type="pres">
      <dgm:prSet presAssocID="{EEAB2B2F-33DF-4386-9681-84BFDB5BB80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539E32C-6BAC-42D4-B7A3-798072DAA70E}" type="pres">
      <dgm:prSet presAssocID="{EEAB2B2F-33DF-4386-9681-84BFDB5BB80B}" presName="childText" presStyleLbl="revTx" presStyleIdx="0" presStyleCnt="2">
        <dgm:presLayoutVars>
          <dgm:bulletEnabled val="1"/>
        </dgm:presLayoutVars>
      </dgm:prSet>
      <dgm:spPr/>
    </dgm:pt>
    <dgm:pt modelId="{9B9B1318-1C9F-4FE9-8E83-CE758E3812AA}" type="pres">
      <dgm:prSet presAssocID="{7CC470D3-E7FB-4175-A22E-932FF0637D0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688E4DD-AAC4-424F-80FC-5DBD1B3E8AA7}" type="pres">
      <dgm:prSet presAssocID="{7CC470D3-E7FB-4175-A22E-932FF0637D0F}" presName="childText" presStyleLbl="revTx" presStyleIdx="1" presStyleCnt="2">
        <dgm:presLayoutVars>
          <dgm:bulletEnabled val="1"/>
        </dgm:presLayoutVars>
      </dgm:prSet>
      <dgm:spPr/>
    </dgm:pt>
    <dgm:pt modelId="{873F3534-1BE2-43C6-A21B-705D40BCD9EA}" type="pres">
      <dgm:prSet presAssocID="{D91EC15B-81C8-4E05-B3F0-DD9214B56E2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C349C55-E7BC-48E0-AC14-84947A9730C1}" type="pres">
      <dgm:prSet presAssocID="{2357F11B-0338-4889-83DD-550CA47AC9D3}" presName="spacer" presStyleCnt="0"/>
      <dgm:spPr/>
    </dgm:pt>
    <dgm:pt modelId="{3BAF93E5-D97E-45E3-8DCF-1A9E94EFFDD0}" type="pres">
      <dgm:prSet presAssocID="{C7E93D81-8CAB-46F6-ADDD-F67644786783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F2A489C-411B-418C-BEBA-57C00F6303CB}" type="pres">
      <dgm:prSet presAssocID="{E20C6D49-4932-41D8-B5D4-C96E4C344254}" presName="spacer" presStyleCnt="0"/>
      <dgm:spPr/>
    </dgm:pt>
    <dgm:pt modelId="{D095AFDF-A8A6-4117-9A03-E59A2DC3AB08}" type="pres">
      <dgm:prSet presAssocID="{C002464D-C133-4D3E-B354-0D4DC1314AA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2212F411-FC13-4816-9ECF-220B5ACE9FD4}" type="presOf" srcId="{B170E9C3-E550-44A3-A903-8FB872F17FA3}" destId="{0688E4DD-AAC4-424F-80FC-5DBD1B3E8AA7}" srcOrd="0" destOrd="0" presId="urn:microsoft.com/office/officeart/2005/8/layout/vList2"/>
    <dgm:cxn modelId="{5FCABE33-66F3-41A8-8D8A-61298DF24165}" srcId="{70FE4CFC-C2C3-4E8E-B3C0-4E94557F4DD7}" destId="{D91EC15B-81C8-4E05-B3F0-DD9214B56E28}" srcOrd="5" destOrd="0" parTransId="{35425B0B-F8E7-40EB-A71A-90669A92ABAB}" sibTransId="{2357F11B-0338-4889-83DD-550CA47AC9D3}"/>
    <dgm:cxn modelId="{B7FB4534-2626-4F1F-A849-5FC2B25819F9}" type="presOf" srcId="{70FE4CFC-C2C3-4E8E-B3C0-4E94557F4DD7}" destId="{B3B00A38-0581-475E-B3B8-28D3E4AEE38F}" srcOrd="0" destOrd="0" presId="urn:microsoft.com/office/officeart/2005/8/layout/vList2"/>
    <dgm:cxn modelId="{38C9823F-3FA1-40DE-A0C3-493A2B2B118C}" srcId="{70FE4CFC-C2C3-4E8E-B3C0-4E94557F4DD7}" destId="{E906238C-B2E2-42F1-94B2-2D39F626C742}" srcOrd="1" destOrd="0" parTransId="{2CF8CFA1-C1DE-4875-9DE1-F91BB96C059A}" sibTransId="{1DBCCBBA-9573-4AAF-866E-7073A024BCA0}"/>
    <dgm:cxn modelId="{253AAC5E-637B-4134-8A39-937505E4A3E9}" type="presOf" srcId="{6390FC61-079E-494B-A9F2-9ACB04ABEEDD}" destId="{91C6574E-4C68-40C9-9513-CA84051FBB0C}" srcOrd="0" destOrd="0" presId="urn:microsoft.com/office/officeart/2005/8/layout/vList2"/>
    <dgm:cxn modelId="{ECAE2547-37F1-48B8-9A48-7397EC50315E}" srcId="{70FE4CFC-C2C3-4E8E-B3C0-4E94557F4DD7}" destId="{6390FC61-079E-494B-A9F2-9ACB04ABEEDD}" srcOrd="0" destOrd="0" parTransId="{F1CD7CD0-2FA9-480E-92F9-EEF624FE90A1}" sibTransId="{5028AA59-F9B5-49FE-9591-4056060570C2}"/>
    <dgm:cxn modelId="{3A094C68-C745-4BDB-91B0-0188F4108ECC}" srcId="{7CC470D3-E7FB-4175-A22E-932FF0637D0F}" destId="{B170E9C3-E550-44A3-A903-8FB872F17FA3}" srcOrd="0" destOrd="0" parTransId="{279FBB23-2B8E-4CE2-9C3B-CF60E15D3904}" sibTransId="{398FDA7E-A9C8-4D59-BF37-2A982570D9C3}"/>
    <dgm:cxn modelId="{6A514C4E-FA8D-416C-AFC7-08148C8C0EAC}" type="presOf" srcId="{EEAB2B2F-33DF-4386-9681-84BFDB5BB80B}" destId="{263AD392-E2DC-4844-997E-8EAA5DCDF0AC}" srcOrd="0" destOrd="0" presId="urn:microsoft.com/office/officeart/2005/8/layout/vList2"/>
    <dgm:cxn modelId="{071C9451-39E0-472A-8542-F4B52A0CB07D}" type="presOf" srcId="{E906238C-B2E2-42F1-94B2-2D39F626C742}" destId="{B695A160-2F27-4276-A11F-B1A2C1D0E744}" srcOrd="0" destOrd="0" presId="urn:microsoft.com/office/officeart/2005/8/layout/vList2"/>
    <dgm:cxn modelId="{ACC9677C-1790-4857-982A-689D08D6CB03}" type="presOf" srcId="{C7E93D81-8CAB-46F6-ADDD-F67644786783}" destId="{3BAF93E5-D97E-45E3-8DCF-1A9E94EFFDD0}" srcOrd="0" destOrd="0" presId="urn:microsoft.com/office/officeart/2005/8/layout/vList2"/>
    <dgm:cxn modelId="{C627EA80-9A1B-4944-AB70-EE26D0A9DD0D}" srcId="{70FE4CFC-C2C3-4E8E-B3C0-4E94557F4DD7}" destId="{C7E93D81-8CAB-46F6-ADDD-F67644786783}" srcOrd="6" destOrd="0" parTransId="{7995B815-0E9F-4993-8114-D0BD03A3D6E1}" sibTransId="{E20C6D49-4932-41D8-B5D4-C96E4C344254}"/>
    <dgm:cxn modelId="{ED67488D-29BE-4A71-957D-E1DC59776589}" type="presOf" srcId="{5C2D2488-B466-4838-A4E1-4F4B7633BCE7}" destId="{8B05B7ED-58A5-4544-8B4D-D8629FC37023}" srcOrd="0" destOrd="0" presId="urn:microsoft.com/office/officeart/2005/8/layout/vList2"/>
    <dgm:cxn modelId="{60B0F493-E521-466C-9D1F-146659BBC4DA}" srcId="{70FE4CFC-C2C3-4E8E-B3C0-4E94557F4DD7}" destId="{5C2D2488-B466-4838-A4E1-4F4B7633BCE7}" srcOrd="2" destOrd="0" parTransId="{D9460420-41B1-4DBB-8BC0-A4DBCB76CF27}" sibTransId="{8281999B-78DA-4AC8-8907-EF612EA44402}"/>
    <dgm:cxn modelId="{65956E94-A585-44A9-804C-F84E031DFD67}" type="presOf" srcId="{D91EC15B-81C8-4E05-B3F0-DD9214B56E28}" destId="{873F3534-1BE2-43C6-A21B-705D40BCD9EA}" srcOrd="0" destOrd="0" presId="urn:microsoft.com/office/officeart/2005/8/layout/vList2"/>
    <dgm:cxn modelId="{CE475399-506B-4A19-9004-17639B277A8B}" srcId="{7CC470D3-E7FB-4175-A22E-932FF0637D0F}" destId="{65847D49-6BF8-4529-9D31-171F07349120}" srcOrd="1" destOrd="0" parTransId="{BC09F93E-6A96-48A5-A89D-D94EF44A3261}" sibTransId="{8BC2F010-3F43-49DE-B15E-3D23AB3B7A55}"/>
    <dgm:cxn modelId="{2B5FA1E3-FFB0-4BAA-9583-BADA1F12F9D3}" type="presOf" srcId="{65847D49-6BF8-4529-9D31-171F07349120}" destId="{0688E4DD-AAC4-424F-80FC-5DBD1B3E8AA7}" srcOrd="0" destOrd="1" presId="urn:microsoft.com/office/officeart/2005/8/layout/vList2"/>
    <dgm:cxn modelId="{AA362FE9-6EF3-4A32-A4E5-7B6344195C8D}" srcId="{70FE4CFC-C2C3-4E8E-B3C0-4E94557F4DD7}" destId="{C002464D-C133-4D3E-B354-0D4DC1314AAE}" srcOrd="7" destOrd="0" parTransId="{477A136D-522B-4280-910A-172AF9C4DE94}" sibTransId="{29960601-6F1D-4CFC-BCEC-28A89234FF87}"/>
    <dgm:cxn modelId="{FF6D1FEB-4C5F-4767-8F41-64A2B62C2CDE}" srcId="{EEAB2B2F-33DF-4386-9681-84BFDB5BB80B}" destId="{4C04E4BB-216B-4D01-92A8-98ACCEA4D818}" srcOrd="0" destOrd="0" parTransId="{EF24411E-A304-4C7D-9ABC-02C24E354D96}" sibTransId="{9F795109-6AF5-4374-BE55-EB7340F4FC00}"/>
    <dgm:cxn modelId="{AEE247F1-180B-4256-86D1-EF7B9C36604A}" type="presOf" srcId="{C002464D-C133-4D3E-B354-0D4DC1314AAE}" destId="{D095AFDF-A8A6-4117-9A03-E59A2DC3AB08}" srcOrd="0" destOrd="0" presId="urn:microsoft.com/office/officeart/2005/8/layout/vList2"/>
    <dgm:cxn modelId="{B73C71F4-DE02-403B-B066-63CE79019D91}" srcId="{70FE4CFC-C2C3-4E8E-B3C0-4E94557F4DD7}" destId="{EEAB2B2F-33DF-4386-9681-84BFDB5BB80B}" srcOrd="3" destOrd="0" parTransId="{DDBDCA53-8337-4E40-BF3F-0BBD2645E8A2}" sibTransId="{0F2D071E-E03C-4B4F-9A9D-E3579BEEB3C1}"/>
    <dgm:cxn modelId="{B3B885F6-04C3-4F4C-923A-D2B953A501FB}" type="presOf" srcId="{7CC470D3-E7FB-4175-A22E-932FF0637D0F}" destId="{9B9B1318-1C9F-4FE9-8E83-CE758E3812AA}" srcOrd="0" destOrd="0" presId="urn:microsoft.com/office/officeart/2005/8/layout/vList2"/>
    <dgm:cxn modelId="{052881F8-D1F2-48F2-9894-2921853682D3}" type="presOf" srcId="{4C04E4BB-216B-4D01-92A8-98ACCEA4D818}" destId="{7539E32C-6BAC-42D4-B7A3-798072DAA70E}" srcOrd="0" destOrd="0" presId="urn:microsoft.com/office/officeart/2005/8/layout/vList2"/>
    <dgm:cxn modelId="{638C9FFA-BFD0-4540-8573-ACAADC0D6F16}" srcId="{70FE4CFC-C2C3-4E8E-B3C0-4E94557F4DD7}" destId="{7CC470D3-E7FB-4175-A22E-932FF0637D0F}" srcOrd="4" destOrd="0" parTransId="{450D6000-21B7-46C9-8042-3F2166F7A1F0}" sibTransId="{68C6318D-B371-4E23-9EBD-9974BA37BCA3}"/>
    <dgm:cxn modelId="{4484D4C7-02D7-45A5-8B83-9C90F1F2A31E}" type="presParOf" srcId="{B3B00A38-0581-475E-B3B8-28D3E4AEE38F}" destId="{91C6574E-4C68-40C9-9513-CA84051FBB0C}" srcOrd="0" destOrd="0" presId="urn:microsoft.com/office/officeart/2005/8/layout/vList2"/>
    <dgm:cxn modelId="{08EFF519-31B6-4712-A8C8-DEA602AEFDCC}" type="presParOf" srcId="{B3B00A38-0581-475E-B3B8-28D3E4AEE38F}" destId="{461E63F9-9EFA-4332-BA7A-65900B24C31D}" srcOrd="1" destOrd="0" presId="urn:microsoft.com/office/officeart/2005/8/layout/vList2"/>
    <dgm:cxn modelId="{9C015644-E582-4E8F-8C87-7E772C8E8560}" type="presParOf" srcId="{B3B00A38-0581-475E-B3B8-28D3E4AEE38F}" destId="{B695A160-2F27-4276-A11F-B1A2C1D0E744}" srcOrd="2" destOrd="0" presId="urn:microsoft.com/office/officeart/2005/8/layout/vList2"/>
    <dgm:cxn modelId="{BC092ED4-1A10-4A76-95DB-B78F2113FFCA}" type="presParOf" srcId="{B3B00A38-0581-475E-B3B8-28D3E4AEE38F}" destId="{3656E149-24A1-416E-8F66-5B90CE7AF459}" srcOrd="3" destOrd="0" presId="urn:microsoft.com/office/officeart/2005/8/layout/vList2"/>
    <dgm:cxn modelId="{738F4DD9-024C-4CE8-8827-8B15587D377A}" type="presParOf" srcId="{B3B00A38-0581-475E-B3B8-28D3E4AEE38F}" destId="{8B05B7ED-58A5-4544-8B4D-D8629FC37023}" srcOrd="4" destOrd="0" presId="urn:microsoft.com/office/officeart/2005/8/layout/vList2"/>
    <dgm:cxn modelId="{1841DF0C-FA6A-47A0-B277-8F598B3C07A5}" type="presParOf" srcId="{B3B00A38-0581-475E-B3B8-28D3E4AEE38F}" destId="{629CCBA7-7385-4E95-8A56-9EF726B08CC2}" srcOrd="5" destOrd="0" presId="urn:microsoft.com/office/officeart/2005/8/layout/vList2"/>
    <dgm:cxn modelId="{5201E472-928E-438E-9E5B-8739A548AD57}" type="presParOf" srcId="{B3B00A38-0581-475E-B3B8-28D3E4AEE38F}" destId="{263AD392-E2DC-4844-997E-8EAA5DCDF0AC}" srcOrd="6" destOrd="0" presId="urn:microsoft.com/office/officeart/2005/8/layout/vList2"/>
    <dgm:cxn modelId="{DE8831E9-3524-4CDD-B62E-A685FC29BF6C}" type="presParOf" srcId="{B3B00A38-0581-475E-B3B8-28D3E4AEE38F}" destId="{7539E32C-6BAC-42D4-B7A3-798072DAA70E}" srcOrd="7" destOrd="0" presId="urn:microsoft.com/office/officeart/2005/8/layout/vList2"/>
    <dgm:cxn modelId="{63B5A8E5-1DA9-4AAB-ABAC-4D0098AB15C3}" type="presParOf" srcId="{B3B00A38-0581-475E-B3B8-28D3E4AEE38F}" destId="{9B9B1318-1C9F-4FE9-8E83-CE758E3812AA}" srcOrd="8" destOrd="0" presId="urn:microsoft.com/office/officeart/2005/8/layout/vList2"/>
    <dgm:cxn modelId="{F1F60DF6-A265-46ED-B78F-258AD2AFFE24}" type="presParOf" srcId="{B3B00A38-0581-475E-B3B8-28D3E4AEE38F}" destId="{0688E4DD-AAC4-424F-80FC-5DBD1B3E8AA7}" srcOrd="9" destOrd="0" presId="urn:microsoft.com/office/officeart/2005/8/layout/vList2"/>
    <dgm:cxn modelId="{F8E0CBF9-DBFD-4358-B795-536B1FAF9399}" type="presParOf" srcId="{B3B00A38-0581-475E-B3B8-28D3E4AEE38F}" destId="{873F3534-1BE2-43C6-A21B-705D40BCD9EA}" srcOrd="10" destOrd="0" presId="urn:microsoft.com/office/officeart/2005/8/layout/vList2"/>
    <dgm:cxn modelId="{701DCAA4-5EBB-404B-9438-37853296668E}" type="presParOf" srcId="{B3B00A38-0581-475E-B3B8-28D3E4AEE38F}" destId="{0C349C55-E7BC-48E0-AC14-84947A9730C1}" srcOrd="11" destOrd="0" presId="urn:microsoft.com/office/officeart/2005/8/layout/vList2"/>
    <dgm:cxn modelId="{D89BCE00-0637-46CB-9B37-675598B7B9B8}" type="presParOf" srcId="{B3B00A38-0581-475E-B3B8-28D3E4AEE38F}" destId="{3BAF93E5-D97E-45E3-8DCF-1A9E94EFFDD0}" srcOrd="12" destOrd="0" presId="urn:microsoft.com/office/officeart/2005/8/layout/vList2"/>
    <dgm:cxn modelId="{CDEBF703-E1C2-44EC-B7F8-63A3E55B93AD}" type="presParOf" srcId="{B3B00A38-0581-475E-B3B8-28D3E4AEE38F}" destId="{FF2A489C-411B-418C-BEBA-57C00F6303CB}" srcOrd="13" destOrd="0" presId="urn:microsoft.com/office/officeart/2005/8/layout/vList2"/>
    <dgm:cxn modelId="{FFC04FD3-8D0B-429C-8891-A4FD466BB2F2}" type="presParOf" srcId="{B3B00A38-0581-475E-B3B8-28D3E4AEE38F}" destId="{D095AFDF-A8A6-4117-9A03-E59A2DC3AB0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47F49-981C-4A04-9C17-55DB5CCC1CD8}">
      <dsp:nvSpPr>
        <dsp:cNvPr id="0" name=""/>
        <dsp:cNvSpPr/>
      </dsp:nvSpPr>
      <dsp:spPr>
        <a:xfrm>
          <a:off x="5385192" y="1099036"/>
          <a:ext cx="8422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42289" y="45720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84515" y="1140387"/>
        <a:ext cx="43644" cy="8737"/>
      </dsp:txXfrm>
    </dsp:sp>
    <dsp:sp modelId="{9080495E-5CF1-44CE-B79C-BB545CDEE1EC}">
      <dsp:nvSpPr>
        <dsp:cNvPr id="0" name=""/>
        <dsp:cNvSpPr/>
      </dsp:nvSpPr>
      <dsp:spPr>
        <a:xfrm>
          <a:off x="1591819" y="6204"/>
          <a:ext cx="3795173" cy="22771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entury Gothic" panose="020B0502020202020204"/>
            </a:rPr>
            <a:t>Data Acquisition and Central Configuration</a:t>
          </a:r>
          <a:endParaRPr lang="en-US" sz="2000" kern="1200" dirty="0">
            <a:solidFill>
              <a:schemeClr val="tx1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solidFill>
                <a:schemeClr val="tx1"/>
              </a:solidFill>
              <a:latin typeface="Century Gothic" panose="020B0502020202020204"/>
            </a:rPr>
            <a:t>OpenStreetMap,Natura</a:t>
          </a: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 2000, Digital Elevation Model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Configuration of path, structure and parameters</a:t>
          </a:r>
          <a:endParaRPr lang="en-US" kern="1200" dirty="0"/>
        </a:p>
      </dsp:txBody>
      <dsp:txXfrm>
        <a:off x="1591819" y="6204"/>
        <a:ext cx="3795173" cy="2277103"/>
      </dsp:txXfrm>
    </dsp:sp>
    <dsp:sp modelId="{23104474-A8DF-4A73-946D-FEE1A6794FD7}">
      <dsp:nvSpPr>
        <dsp:cNvPr id="0" name=""/>
        <dsp:cNvSpPr/>
      </dsp:nvSpPr>
      <dsp:spPr>
        <a:xfrm>
          <a:off x="3489405" y="2281508"/>
          <a:ext cx="4668063" cy="842289"/>
        </a:xfrm>
        <a:custGeom>
          <a:avLst/>
          <a:gdLst/>
          <a:ahLst/>
          <a:cxnLst/>
          <a:rect l="0" t="0" r="0" b="0"/>
          <a:pathLst>
            <a:path>
              <a:moveTo>
                <a:pt x="4668063" y="0"/>
              </a:moveTo>
              <a:lnTo>
                <a:pt x="4668063" y="438244"/>
              </a:lnTo>
              <a:lnTo>
                <a:pt x="0" y="438244"/>
              </a:lnTo>
              <a:lnTo>
                <a:pt x="0" y="842289"/>
              </a:lnTo>
            </a:path>
          </a:pathLst>
        </a:custGeom>
        <a:noFill/>
        <a:ln w="9525" cap="rnd" cmpd="sng" algn="ctr">
          <a:solidFill>
            <a:schemeClr val="accent4">
              <a:hueOff val="419958"/>
              <a:satOff val="-11217"/>
              <a:lumOff val="-26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04713" y="2698284"/>
        <a:ext cx="237448" cy="8737"/>
      </dsp:txXfrm>
    </dsp:sp>
    <dsp:sp modelId="{745CDA5B-BDDD-4317-8BDA-075B2E7A89A7}">
      <dsp:nvSpPr>
        <dsp:cNvPr id="0" name=""/>
        <dsp:cNvSpPr/>
      </dsp:nvSpPr>
      <dsp:spPr>
        <a:xfrm>
          <a:off x="6259882" y="6204"/>
          <a:ext cx="3795173" cy="2277103"/>
        </a:xfrm>
        <a:prstGeom prst="rect">
          <a:avLst/>
        </a:prstGeom>
        <a:solidFill>
          <a:schemeClr val="accent4">
            <a:hueOff val="279972"/>
            <a:satOff val="-7478"/>
            <a:lumOff val="-176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entury Gothic" panose="020B0502020202020204"/>
            </a:rPr>
            <a:t>Data Preprocessing</a:t>
          </a:r>
          <a:endParaRPr lang="en-US" sz="2000" kern="1200" dirty="0">
            <a:solidFill>
              <a:schemeClr val="tx1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Clean, clip, and reproject (EPSG: 32633)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Resample (100m x 100m)</a:t>
          </a:r>
          <a:endParaRPr lang="en-US" sz="1800" kern="1200" dirty="0">
            <a:solidFill>
              <a:srgbClr val="000000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Slope calculation (&gt; 30°)</a:t>
          </a:r>
          <a:endParaRPr lang="en-US" sz="1800" kern="1200" dirty="0">
            <a:solidFill>
              <a:srgbClr val="000000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Buffer distances</a:t>
          </a:r>
          <a:endParaRPr lang="en-US" sz="1800" kern="1200" dirty="0">
            <a:solidFill>
              <a:srgbClr val="000000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Converting shps to raster</a:t>
          </a:r>
          <a:endParaRPr lang="en-US" kern="1200" dirty="0"/>
        </a:p>
      </dsp:txBody>
      <dsp:txXfrm>
        <a:off x="6259882" y="6204"/>
        <a:ext cx="3795173" cy="2277103"/>
      </dsp:txXfrm>
    </dsp:sp>
    <dsp:sp modelId="{07F2D411-AE9C-4F4A-9191-691228D0AC68}">
      <dsp:nvSpPr>
        <dsp:cNvPr id="0" name=""/>
        <dsp:cNvSpPr/>
      </dsp:nvSpPr>
      <dsp:spPr>
        <a:xfrm>
          <a:off x="5385192" y="4249029"/>
          <a:ext cx="8422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42289" y="45720"/>
              </a:lnTo>
            </a:path>
          </a:pathLst>
        </a:custGeom>
        <a:noFill/>
        <a:ln w="9525" cap="rnd" cmpd="sng" algn="ctr">
          <a:solidFill>
            <a:schemeClr val="accent4">
              <a:hueOff val="839917"/>
              <a:satOff val="-22434"/>
              <a:lumOff val="-52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84515" y="4290381"/>
        <a:ext cx="43644" cy="8737"/>
      </dsp:txXfrm>
    </dsp:sp>
    <dsp:sp modelId="{48EE4858-DB04-40AC-9336-7CB7A31BA8A9}">
      <dsp:nvSpPr>
        <dsp:cNvPr id="0" name=""/>
        <dsp:cNvSpPr/>
      </dsp:nvSpPr>
      <dsp:spPr>
        <a:xfrm>
          <a:off x="1591819" y="3156197"/>
          <a:ext cx="3795173" cy="2277103"/>
        </a:xfrm>
        <a:prstGeom prst="rect">
          <a:avLst/>
        </a:prstGeom>
        <a:solidFill>
          <a:schemeClr val="accent4">
            <a:hueOff val="559945"/>
            <a:satOff val="-14956"/>
            <a:lumOff val="-352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entury Gothic" panose="020B0502020202020204"/>
            </a:rPr>
            <a:t>Economic Evaluation</a:t>
          </a:r>
          <a:endParaRPr lang="en-US" sz="2000" kern="1200" dirty="0">
            <a:solidFill>
              <a:schemeClr val="tx1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Calculate LCOE raster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Apply land-use efficiency factors (35-50 MW/km²)</a:t>
          </a:r>
          <a:endParaRPr lang="en-US" sz="1800" kern="1200" dirty="0">
            <a:solidFill>
              <a:srgbClr val="000000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Estimate capacity and annual electricity generation potential (GWh/year)</a:t>
          </a:r>
          <a:endParaRPr lang="en-US" kern="1200" dirty="0"/>
        </a:p>
      </dsp:txBody>
      <dsp:txXfrm>
        <a:off x="1591819" y="3156197"/>
        <a:ext cx="3795173" cy="2277103"/>
      </dsp:txXfrm>
    </dsp:sp>
    <dsp:sp modelId="{4DCC9FEF-DED6-4EDA-B539-54F733A4E0A5}">
      <dsp:nvSpPr>
        <dsp:cNvPr id="0" name=""/>
        <dsp:cNvSpPr/>
      </dsp:nvSpPr>
      <dsp:spPr>
        <a:xfrm>
          <a:off x="6259882" y="3156197"/>
          <a:ext cx="3795173" cy="2277103"/>
        </a:xfrm>
        <a:prstGeom prst="rect">
          <a:avLst/>
        </a:prstGeom>
        <a:solidFill>
          <a:schemeClr val="accent4">
            <a:hueOff val="839917"/>
            <a:satOff val="-22434"/>
            <a:lumOff val="-5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entury Gothic" panose="020B0502020202020204"/>
            </a:rPr>
            <a:t>Visualization</a:t>
          </a:r>
          <a:endParaRPr lang="en-US" sz="2000" kern="1200" dirty="0">
            <a:solidFill>
              <a:schemeClr val="tx1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Map of study area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Eligible vs. excluded areas</a:t>
          </a:r>
          <a:endParaRPr lang="en-US" sz="1800" kern="1200" dirty="0">
            <a:solidFill>
              <a:srgbClr val="000000"/>
            </a:solidFill>
            <a:latin typeface="Century Gothic" panose="020B0502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Century Gothic" panose="020B0502020202020204"/>
            </a:rPr>
            <a:t>LCOE heatmap of PV potential</a:t>
          </a:r>
          <a:endParaRPr lang="en-US" kern="1200" dirty="0"/>
        </a:p>
      </dsp:txBody>
      <dsp:txXfrm>
        <a:off x="6259882" y="3156197"/>
        <a:ext cx="3795173" cy="2277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6574E-4C68-40C9-9513-CA84051FBB0C}">
      <dsp:nvSpPr>
        <dsp:cNvPr id="0" name=""/>
        <dsp:cNvSpPr/>
      </dsp:nvSpPr>
      <dsp:spPr>
        <a:xfrm>
          <a:off x="0" y="37231"/>
          <a:ext cx="11329239" cy="514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Easily available data</a:t>
          </a:r>
        </a:p>
      </dsp:txBody>
      <dsp:txXfrm>
        <a:off x="25130" y="62361"/>
        <a:ext cx="11278979" cy="464540"/>
      </dsp:txXfrm>
    </dsp:sp>
    <dsp:sp modelId="{B695A160-2F27-4276-A11F-B1A2C1D0E744}">
      <dsp:nvSpPr>
        <dsp:cNvPr id="0" name=""/>
        <dsp:cNvSpPr/>
      </dsp:nvSpPr>
      <dsp:spPr>
        <a:xfrm>
          <a:off x="0" y="609631"/>
          <a:ext cx="11329239" cy="514800"/>
        </a:xfrm>
        <a:prstGeom prst="roundRect">
          <a:avLst/>
        </a:prstGeom>
        <a:solidFill>
          <a:schemeClr val="accent5">
            <a:hueOff val="-119981"/>
            <a:satOff val="6521"/>
            <a:lumOff val="-120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Code was adaptable and worked well</a:t>
          </a:r>
        </a:p>
      </dsp:txBody>
      <dsp:txXfrm>
        <a:off x="25130" y="634761"/>
        <a:ext cx="11278979" cy="464540"/>
      </dsp:txXfrm>
    </dsp:sp>
    <dsp:sp modelId="{8B05B7ED-58A5-4544-8B4D-D8629FC37023}">
      <dsp:nvSpPr>
        <dsp:cNvPr id="0" name=""/>
        <dsp:cNvSpPr/>
      </dsp:nvSpPr>
      <dsp:spPr>
        <a:xfrm>
          <a:off x="0" y="1182031"/>
          <a:ext cx="11329239" cy="514800"/>
        </a:xfrm>
        <a:prstGeom prst="roundRect">
          <a:avLst/>
        </a:prstGeom>
        <a:solidFill>
          <a:schemeClr val="accent5">
            <a:hueOff val="-239961"/>
            <a:satOff val="13042"/>
            <a:lumOff val="-240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Formulas in the paper made calculation steps clear</a:t>
          </a:r>
        </a:p>
      </dsp:txBody>
      <dsp:txXfrm>
        <a:off x="25130" y="1207161"/>
        <a:ext cx="11278979" cy="464540"/>
      </dsp:txXfrm>
    </dsp:sp>
    <dsp:sp modelId="{263AD392-E2DC-4844-997E-8EAA5DCDF0AC}">
      <dsp:nvSpPr>
        <dsp:cNvPr id="0" name=""/>
        <dsp:cNvSpPr/>
      </dsp:nvSpPr>
      <dsp:spPr>
        <a:xfrm>
          <a:off x="0" y="1754431"/>
          <a:ext cx="11329239" cy="514800"/>
        </a:xfrm>
        <a:prstGeom prst="roundRect">
          <a:avLst/>
        </a:prstGeom>
        <a:solidFill>
          <a:schemeClr val="accent5">
            <a:hueOff val="-359942"/>
            <a:satOff val="19563"/>
            <a:lumOff val="-361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Corine Landcover could also be included</a:t>
          </a:r>
        </a:p>
      </dsp:txBody>
      <dsp:txXfrm>
        <a:off x="25130" y="1779561"/>
        <a:ext cx="11278979" cy="464540"/>
      </dsp:txXfrm>
    </dsp:sp>
    <dsp:sp modelId="{7539E32C-6BAC-42D4-B7A3-798072DAA70E}">
      <dsp:nvSpPr>
        <dsp:cNvPr id="0" name=""/>
        <dsp:cNvSpPr/>
      </dsp:nvSpPr>
      <dsp:spPr>
        <a:xfrm>
          <a:off x="0" y="2269231"/>
          <a:ext cx="11329239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970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Century Gothic" panose="020B0502020202020204"/>
              <a:ea typeface="+mn-ea"/>
              <a:cs typeface="+mn-cs"/>
            </a:rPr>
            <a:t>Agricultural land as exclusion</a:t>
          </a:r>
        </a:p>
      </dsp:txBody>
      <dsp:txXfrm>
        <a:off x="0" y="2269231"/>
        <a:ext cx="11329239" cy="331200"/>
      </dsp:txXfrm>
    </dsp:sp>
    <dsp:sp modelId="{9B9B1318-1C9F-4FE9-8E83-CE758E3812AA}">
      <dsp:nvSpPr>
        <dsp:cNvPr id="0" name=""/>
        <dsp:cNvSpPr/>
      </dsp:nvSpPr>
      <dsp:spPr>
        <a:xfrm>
          <a:off x="0" y="2600431"/>
          <a:ext cx="11329239" cy="514800"/>
        </a:xfrm>
        <a:prstGeom prst="roundRect">
          <a:avLst/>
        </a:prstGeom>
        <a:solidFill>
          <a:schemeClr val="accent5">
            <a:hueOff val="-479923"/>
            <a:satOff val="26084"/>
            <a:lumOff val="-48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Data was often reprojected</a:t>
          </a:r>
        </a:p>
      </dsp:txBody>
      <dsp:txXfrm>
        <a:off x="25130" y="2625561"/>
        <a:ext cx="11278979" cy="464540"/>
      </dsp:txXfrm>
    </dsp:sp>
    <dsp:sp modelId="{0688E4DD-AAC4-424F-80FC-5DBD1B3E8AA7}">
      <dsp:nvSpPr>
        <dsp:cNvPr id="0" name=""/>
        <dsp:cNvSpPr/>
      </dsp:nvSpPr>
      <dsp:spPr>
        <a:xfrm>
          <a:off x="0" y="3115231"/>
          <a:ext cx="11329239" cy="589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970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Century Gothic" panose="020B0502020202020204"/>
              <a:ea typeface="+mn-ea"/>
              <a:cs typeface="+mn-cs"/>
            </a:rPr>
            <a:t>New raster file later on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Century Gothic" panose="020B0502020202020204"/>
              <a:ea typeface="+mn-ea"/>
              <a:cs typeface="+mn-cs"/>
            </a:rPr>
            <a:t>Control of right coordinate system (otherwise reprojection)</a:t>
          </a:r>
        </a:p>
      </dsp:txBody>
      <dsp:txXfrm>
        <a:off x="0" y="3115231"/>
        <a:ext cx="11329239" cy="589950"/>
      </dsp:txXfrm>
    </dsp:sp>
    <dsp:sp modelId="{873F3534-1BE2-43C6-A21B-705D40BCD9EA}">
      <dsp:nvSpPr>
        <dsp:cNvPr id="0" name=""/>
        <dsp:cNvSpPr/>
      </dsp:nvSpPr>
      <dsp:spPr>
        <a:xfrm>
          <a:off x="0" y="3705181"/>
          <a:ext cx="11329239" cy="514800"/>
        </a:xfrm>
        <a:prstGeom prst="roundRect">
          <a:avLst/>
        </a:prstGeom>
        <a:solidFill>
          <a:schemeClr val="accent5">
            <a:hueOff val="-599904"/>
            <a:satOff val="32605"/>
            <a:lumOff val="-60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Input handling was difficult (different file paths etc.)</a:t>
          </a:r>
        </a:p>
      </dsp:txBody>
      <dsp:txXfrm>
        <a:off x="25130" y="3730311"/>
        <a:ext cx="11278979" cy="464540"/>
      </dsp:txXfrm>
    </dsp:sp>
    <dsp:sp modelId="{3BAF93E5-D97E-45E3-8DCF-1A9E94EFFDD0}">
      <dsp:nvSpPr>
        <dsp:cNvPr id="0" name=""/>
        <dsp:cNvSpPr/>
      </dsp:nvSpPr>
      <dsp:spPr>
        <a:xfrm>
          <a:off x="0" y="4277581"/>
          <a:ext cx="11329239" cy="514800"/>
        </a:xfrm>
        <a:prstGeom prst="roundRect">
          <a:avLst/>
        </a:prstGeom>
        <a:solidFill>
          <a:schemeClr val="accent5">
            <a:hueOff val="-719884"/>
            <a:satOff val="39126"/>
            <a:lumOff val="-722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Map of all excluded datasets could be added</a:t>
          </a:r>
        </a:p>
      </dsp:txBody>
      <dsp:txXfrm>
        <a:off x="25130" y="4302711"/>
        <a:ext cx="11278979" cy="464540"/>
      </dsp:txXfrm>
    </dsp:sp>
    <dsp:sp modelId="{D095AFDF-A8A6-4117-9A03-E59A2DC3AB08}">
      <dsp:nvSpPr>
        <dsp:cNvPr id="0" name=""/>
        <dsp:cNvSpPr/>
      </dsp:nvSpPr>
      <dsp:spPr>
        <a:xfrm>
          <a:off x="0" y="4849981"/>
          <a:ext cx="11329239" cy="514800"/>
        </a:xfrm>
        <a:prstGeom prst="roundRect">
          <a:avLst/>
        </a:prstGeom>
        <a:solidFill>
          <a:schemeClr val="accent5">
            <a:hueOff val="-839865"/>
            <a:satOff val="45647"/>
            <a:lumOff val="-843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  <a:ea typeface="+mn-ea"/>
              <a:cs typeface="+mn-cs"/>
            </a:rPr>
            <a:t>Could have been done for whole Styria</a:t>
          </a:r>
        </a:p>
      </dsp:txBody>
      <dsp:txXfrm>
        <a:off x="25130" y="4875111"/>
        <a:ext cx="11278979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01766-94D1-4021-A379-BE55BAABB637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5BBA8-66AF-414F-AD48-2E05ABC402F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431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988E-30CB-3A53-177F-BDE50BF7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00E54F0-1FED-67AA-31FB-F5B3C0816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233D48-4DE3-783F-E7CF-0E9F577E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41E05D-8865-2194-DA85-217129F9C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5BBA8-66AF-414F-AD48-2E05ABC402FD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58776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3D76-DB75-B2CE-D9E1-F0FC32501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49E6D0-3FD8-F4A0-3DD3-94167AB8E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839E04-6BF7-8B31-5F06-2E3E6F3A3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45B600-FB11-AF89-B40A-EC9B1CDA9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5BBA8-66AF-414F-AD48-2E05ABC402FD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75972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60B4-63A4-22BB-0F1A-0A6CB035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3C5A07-CFD4-5561-3106-D24A15E14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06CA8C-AE0F-D59F-6B87-34C5E007A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C550FF-6B17-ED6B-B599-1AFE882EB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5BBA8-66AF-414F-AD48-2E05ABC402FD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0176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361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69273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043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55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14074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49343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71302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35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5961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6499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5770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0736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997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1955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44940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455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16478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9DC9B3B-11FC-46E5-9394-EF0FED51C95C}" type="datetimeFigureOut">
              <a:rPr lang="de-AT" smtClean="0"/>
              <a:t>10.12.2025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92AABAD-D9A5-450E-9FF0-FAB1881B6B7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1500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21AB3-C19F-D6A3-746B-EECCB07BA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843" y="2012405"/>
            <a:ext cx="10375760" cy="2387600"/>
          </a:xfrm>
        </p:spPr>
        <p:txBody>
          <a:bodyPr>
            <a:noAutofit/>
          </a:bodyPr>
          <a:lstStyle/>
          <a:p>
            <a:r>
              <a:rPr lang="en-US" sz="3600"/>
              <a:t>A GIS-based method for assessing the economics of utility-scale photovoltaic systems</a:t>
            </a:r>
            <a:br>
              <a:rPr lang="en-US" sz="3600"/>
            </a:br>
            <a:r>
              <a:rPr lang="en-US" sz="3600"/>
              <a:t>for Southeast </a:t>
            </a:r>
            <a:r>
              <a:rPr lang="en-US" sz="3600" err="1"/>
              <a:t>styria</a:t>
            </a:r>
            <a:br>
              <a:rPr lang="en-US" sz="3600"/>
            </a:br>
            <a:br>
              <a:rPr lang="de-AT" sz="1600"/>
            </a:br>
            <a:r>
              <a:rPr lang="de-AT" sz="1600" err="1"/>
              <a:t>Based</a:t>
            </a:r>
            <a:r>
              <a:rPr lang="de-AT" sz="1600"/>
              <a:t> on </a:t>
            </a:r>
            <a:r>
              <a:rPr lang="de-AT" sz="1600" err="1"/>
              <a:t>the</a:t>
            </a:r>
            <a:r>
              <a:rPr lang="de-AT" sz="1600"/>
              <a:t> Paper </a:t>
            </a:r>
            <a:r>
              <a:rPr lang="de-AT" sz="1600" err="1"/>
              <a:t>from</a:t>
            </a:r>
            <a:r>
              <a:rPr lang="de-AT" sz="1600"/>
              <a:t>: Pablo </a:t>
            </a:r>
            <a:r>
              <a:rPr lang="de-AT" sz="1600" err="1"/>
              <a:t>Benalcazar</a:t>
            </a:r>
            <a:r>
              <a:rPr lang="de-AT" sz="1600"/>
              <a:t>, Aleksandra </a:t>
            </a:r>
            <a:r>
              <a:rPr lang="de-AT" sz="1600" err="1"/>
              <a:t>Komorowska</a:t>
            </a:r>
            <a:r>
              <a:rPr lang="de-AT" sz="1600"/>
              <a:t>, Jacek Kami´ </a:t>
            </a:r>
            <a:r>
              <a:rPr lang="de-AT" sz="1600" err="1"/>
              <a:t>nski</a:t>
            </a:r>
            <a:r>
              <a:rPr lang="de-AT" sz="1600"/>
              <a:t> </a:t>
            </a:r>
            <a:br>
              <a:rPr lang="de-AT" sz="1600"/>
            </a:br>
            <a:r>
              <a:rPr lang="de-AT" sz="1600" err="1"/>
              <a:t>Published</a:t>
            </a:r>
            <a:r>
              <a:rPr lang="de-AT" sz="1600"/>
              <a:t>: 1st </a:t>
            </a:r>
            <a:r>
              <a:rPr lang="de-AT" sz="1600" err="1"/>
              <a:t>January</a:t>
            </a:r>
            <a:r>
              <a:rPr lang="de-AT" sz="1600"/>
              <a:t> 2024</a:t>
            </a:r>
            <a:br>
              <a:rPr lang="de-AT" sz="1600"/>
            </a:br>
            <a:br>
              <a:rPr lang="de-AT" sz="3600"/>
            </a:br>
            <a:endParaRPr lang="de-AT" sz="36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EAE0B0-535F-FAC4-B83E-419531093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9843" y="3869870"/>
            <a:ext cx="9144000" cy="2387599"/>
          </a:xfrm>
        </p:spPr>
        <p:txBody>
          <a:bodyPr>
            <a:noAutofit/>
          </a:bodyPr>
          <a:lstStyle/>
          <a:p>
            <a:r>
              <a:rPr lang="de-DE" sz="2000" b="1">
                <a:solidFill>
                  <a:schemeClr val="accent1"/>
                </a:solidFill>
              </a:rPr>
              <a:t>Birkle Kornelia</a:t>
            </a:r>
          </a:p>
          <a:p>
            <a:r>
              <a:rPr lang="de-DE" sz="2000" b="1" err="1">
                <a:solidFill>
                  <a:schemeClr val="accent1"/>
                </a:solidFill>
              </a:rPr>
              <a:t>Breitler</a:t>
            </a:r>
            <a:r>
              <a:rPr lang="de-DE" sz="2000" b="1">
                <a:solidFill>
                  <a:schemeClr val="accent1"/>
                </a:solidFill>
              </a:rPr>
              <a:t> Julian</a:t>
            </a:r>
          </a:p>
          <a:p>
            <a:r>
              <a:rPr lang="de-DE" sz="2000" b="1">
                <a:solidFill>
                  <a:schemeClr val="accent1"/>
                </a:solidFill>
              </a:rPr>
              <a:t>Paar Nico</a:t>
            </a:r>
          </a:p>
          <a:p>
            <a:r>
              <a:rPr lang="de-DE" sz="2000" b="1">
                <a:solidFill>
                  <a:schemeClr val="accent1"/>
                </a:solidFill>
              </a:rPr>
              <a:t>Sturm Cornelia</a:t>
            </a:r>
            <a:endParaRPr lang="de-DE" sz="2000">
              <a:solidFill>
                <a:schemeClr val="accent1"/>
              </a:solidFill>
            </a:endParaRPr>
          </a:p>
          <a:p>
            <a:r>
              <a:rPr lang="de-AT" sz="2000" b="1">
                <a:solidFill>
                  <a:schemeClr val="accent1"/>
                </a:solidFill>
              </a:rPr>
              <a:t>GIS </a:t>
            </a:r>
            <a:r>
              <a:rPr lang="de-AT" sz="2000" b="1" err="1">
                <a:solidFill>
                  <a:schemeClr val="accent1"/>
                </a:solidFill>
              </a:rPr>
              <a:t>analysis</a:t>
            </a:r>
            <a:r>
              <a:rPr lang="de-AT" sz="2000" b="1">
                <a:solidFill>
                  <a:schemeClr val="accent1"/>
                </a:solidFill>
              </a:rPr>
              <a:t> </a:t>
            </a:r>
            <a:r>
              <a:rPr lang="de-AT" sz="2000" b="1" err="1">
                <a:solidFill>
                  <a:schemeClr val="accent1"/>
                </a:solidFill>
              </a:rPr>
              <a:t>techniques</a:t>
            </a:r>
            <a:r>
              <a:rPr lang="de-AT" sz="2000" b="1">
                <a:solidFill>
                  <a:schemeClr val="accent1"/>
                </a:solidFill>
              </a:rPr>
              <a:t> 2</a:t>
            </a:r>
          </a:p>
          <a:p>
            <a:r>
              <a:rPr lang="de-AT" sz="2000">
                <a:solidFill>
                  <a:schemeClr val="accent1"/>
                </a:solidFill>
              </a:rPr>
              <a:t>WS 2025/26</a:t>
            </a:r>
          </a:p>
        </p:txBody>
      </p:sp>
    </p:spTree>
    <p:extLst>
      <p:ext uri="{BB962C8B-B14F-4D97-AF65-F5344CB8AC3E}">
        <p14:creationId xmlns:p14="http://schemas.microsoft.com/office/powerpoint/2010/main" val="834754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700B322-3BC7-7CE2-54E1-673076672497}"/>
              </a:ext>
            </a:extLst>
          </p:cNvPr>
          <p:cNvSpPr/>
          <p:nvPr/>
        </p:nvSpPr>
        <p:spPr>
          <a:xfrm>
            <a:off x="308780" y="186960"/>
            <a:ext cx="9237786" cy="583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770FAB-DFE1-9ED6-D42B-6304E261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2" y="76910"/>
            <a:ext cx="8534400" cy="795751"/>
          </a:xfrm>
        </p:spPr>
        <p:txBody>
          <a:bodyPr>
            <a:normAutofit/>
          </a:bodyPr>
          <a:lstStyle/>
          <a:p>
            <a:r>
              <a:rPr lang="de-DE" sz="2800">
                <a:solidFill>
                  <a:schemeClr val="bg1"/>
                </a:solidFill>
              </a:rPr>
              <a:t>Original Study</a:t>
            </a:r>
            <a:endParaRPr lang="en-US" sz="2800">
              <a:solidFill>
                <a:schemeClr val="bg1"/>
              </a:solidFill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EB3D0FA1-BE9D-E750-00AC-A606BEF82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304629"/>
              </p:ext>
            </p:extLst>
          </p:nvPr>
        </p:nvGraphicFramePr>
        <p:xfrm>
          <a:off x="0" y="6492875"/>
          <a:ext cx="121596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398">
                  <a:extLst>
                    <a:ext uri="{9D8B030D-6E8A-4147-A177-3AD203B41FA5}">
                      <a16:colId xmlns:a16="http://schemas.microsoft.com/office/drawing/2014/main" val="2936406333"/>
                    </a:ext>
                  </a:extLst>
                </a:gridCol>
                <a:gridCol w="2275564">
                  <a:extLst>
                    <a:ext uri="{9D8B030D-6E8A-4147-A177-3AD203B41FA5}">
                      <a16:colId xmlns:a16="http://schemas.microsoft.com/office/drawing/2014/main" val="3327671431"/>
                    </a:ext>
                  </a:extLst>
                </a:gridCol>
                <a:gridCol w="2521144">
                  <a:extLst>
                    <a:ext uri="{9D8B030D-6E8A-4147-A177-3AD203B41FA5}">
                      <a16:colId xmlns:a16="http://schemas.microsoft.com/office/drawing/2014/main" val="3697069453"/>
                    </a:ext>
                  </a:extLst>
                </a:gridCol>
                <a:gridCol w="4055603">
                  <a:extLst>
                    <a:ext uri="{9D8B030D-6E8A-4147-A177-3AD203B41FA5}">
                      <a16:colId xmlns:a16="http://schemas.microsoft.com/office/drawing/2014/main" val="3825894234"/>
                    </a:ext>
                  </a:extLst>
                </a:gridCol>
                <a:gridCol w="783914">
                  <a:extLst>
                    <a:ext uri="{9D8B030D-6E8A-4147-A177-3AD203B41FA5}">
                      <a16:colId xmlns:a16="http://schemas.microsoft.com/office/drawing/2014/main" val="3104924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Original Study</a:t>
                      </a:r>
                      <a:endParaRPr lang="de-AT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Workflow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dirty="0" err="1"/>
                        <a:t>Results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err="1"/>
                        <a:t>Reproducibility</a:t>
                      </a:r>
                      <a:r>
                        <a:rPr lang="de-DE"/>
                        <a:t> &amp; </a:t>
                      </a:r>
                      <a:r>
                        <a:rPr lang="de-DE" err="1"/>
                        <a:t>Conclusio</a:t>
                      </a:r>
                      <a:r>
                        <a:rPr lang="de-DE" dirty="0" err="1"/>
                        <a:t>n</a:t>
                      </a:r>
                      <a:endParaRPr lang="de-AT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fld id="{F75851B8-B8C3-43E0-BCA6-517C001231C0}" type="slidenum">
                        <a:rPr lang="de-AT" dirty="0" smtClean="0"/>
                        <a:pPr algn="ctr"/>
                        <a:t>2</a:t>
                      </a:fld>
                      <a:endParaRPr lang="de-AT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76036"/>
                  </a:ext>
                </a:extLst>
              </a:tr>
            </a:tbl>
          </a:graphicData>
        </a:graphic>
      </p:graphicFrame>
      <p:pic>
        <p:nvPicPr>
          <p:cNvPr id="5" name="Picture 2" descr="Universität Graz – We work for tomorrow - Universität Graz">
            <a:extLst>
              <a:ext uri="{FF2B5EF4-FFF2-40B4-BE49-F238E27FC236}">
                <a16:creationId xmlns:a16="http://schemas.microsoft.com/office/drawing/2014/main" id="{F668C95F-3A1C-C865-5648-B19B52D6F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957" y="2096"/>
            <a:ext cx="838200" cy="74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ir haben ein neues Logo! Was sagt ihr dazu?">
            <a:extLst>
              <a:ext uri="{FF2B5EF4-FFF2-40B4-BE49-F238E27FC236}">
                <a16:creationId xmlns:a16="http://schemas.microsoft.com/office/drawing/2014/main" id="{FFB8B560-0C18-4986-20F7-4C98CFD83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7" y="0"/>
            <a:ext cx="1681843" cy="75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82DECB9-7264-FEA7-3B2F-5814CAFBBB09}"/>
              </a:ext>
            </a:extLst>
          </p:cNvPr>
          <p:cNvSpPr/>
          <p:nvPr/>
        </p:nvSpPr>
        <p:spPr>
          <a:xfrm>
            <a:off x="570687" y="1197242"/>
            <a:ext cx="5781273" cy="48864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4573D7-FBFC-CF2C-F81A-23BEC2D32FD1}"/>
              </a:ext>
            </a:extLst>
          </p:cNvPr>
          <p:cNvSpPr txBox="1"/>
          <p:nvPr/>
        </p:nvSpPr>
        <p:spPr>
          <a:xfrm>
            <a:off x="835600" y="1077829"/>
            <a:ext cx="5777017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ct val="0"/>
              </a:spcBef>
            </a:pPr>
            <a:endParaRPr lang="en-US" sz="2000" b="1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 Gothic"/>
                <a:ea typeface="+mj-ea"/>
                <a:cs typeface="+mj-cs"/>
              </a:rPr>
              <a:t>GIS-based framework for land eligibility assessment using 20 exclusion criteria</a:t>
            </a:r>
            <a:endParaRPr lang="en-US" sz="2000"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 Gothic"/>
                <a:ea typeface="+mj-ea"/>
                <a:cs typeface="+mj-cs"/>
              </a:rPr>
              <a:t>Techno-economic potential of utility-scale PV-Systems</a:t>
            </a:r>
          </a:p>
          <a:p>
            <a:pPr marL="228600" indent="-228600">
              <a:buFont typeface="Arial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 Gothic"/>
                <a:ea typeface="+mj-ea"/>
                <a:cs typeface="+mj-cs"/>
              </a:rPr>
              <a:t>Spatial analysis at 100m resolution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 Gothic"/>
                <a:ea typeface="+mj-ea"/>
                <a:cs typeface="+mj-cs"/>
              </a:rPr>
              <a:t>Identification of economically viable solar sites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 Gothic"/>
                <a:ea typeface="+mj-ea"/>
                <a:cs typeface="+mj-cs"/>
              </a:rPr>
              <a:t>Application across NUTS-2 administrative regions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entury Gothic"/>
                <a:ea typeface="+mj-ea"/>
                <a:cs typeface="+mj-cs"/>
              </a:rPr>
              <a:t>Adaptation for Southeast Styria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FBD746-F14D-22D3-42E8-EF39E70973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47" t="3167" r="7548" b="-127"/>
          <a:stretch>
            <a:fillRect/>
          </a:stretch>
        </p:blipFill>
        <p:spPr>
          <a:xfrm>
            <a:off x="7238512" y="3661717"/>
            <a:ext cx="3684866" cy="2782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E4F4E4-5D04-DCB1-CA7C-667F8D37A8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" r="-278" b="-607"/>
          <a:stretch>
            <a:fillRect/>
          </a:stretch>
        </p:blipFill>
        <p:spPr>
          <a:xfrm>
            <a:off x="7255119" y="882737"/>
            <a:ext cx="3668367" cy="272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26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0610-9737-BF96-D70F-6D4DB778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DDD2BE1-E4D6-D2C8-F84C-8AB693188A92}"/>
              </a:ext>
            </a:extLst>
          </p:cNvPr>
          <p:cNvSpPr/>
          <p:nvPr/>
        </p:nvSpPr>
        <p:spPr>
          <a:xfrm>
            <a:off x="308780" y="186960"/>
            <a:ext cx="9237786" cy="583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7E2271-F867-EEF9-7C01-577DA19E6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37" y="38681"/>
            <a:ext cx="8534400" cy="880499"/>
          </a:xfrm>
        </p:spPr>
        <p:txBody>
          <a:bodyPr>
            <a:normAutofit/>
          </a:bodyPr>
          <a:lstStyle/>
          <a:p>
            <a:r>
              <a:rPr lang="de-DE" sz="2800">
                <a:solidFill>
                  <a:schemeClr val="bg1"/>
                </a:solidFill>
              </a:rPr>
              <a:t>Workflow</a:t>
            </a:r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5" name="Picture 2" descr="Universität Graz – We work for tomorrow - Universität Graz">
            <a:extLst>
              <a:ext uri="{FF2B5EF4-FFF2-40B4-BE49-F238E27FC236}">
                <a16:creationId xmlns:a16="http://schemas.microsoft.com/office/drawing/2014/main" id="{058B807C-78E4-5E8E-27BD-0560AB468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957" y="2096"/>
            <a:ext cx="838200" cy="74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ir haben ein neues Logo! Was sagt ihr dazu?">
            <a:extLst>
              <a:ext uri="{FF2B5EF4-FFF2-40B4-BE49-F238E27FC236}">
                <a16:creationId xmlns:a16="http://schemas.microsoft.com/office/drawing/2014/main" id="{400D2803-6479-CB40-264D-01C4A8BCE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7" y="0"/>
            <a:ext cx="1681843" cy="75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36AE06F-5904-6F9B-BEC8-1F0BA7E1C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1549025"/>
              </p:ext>
            </p:extLst>
          </p:nvPr>
        </p:nvGraphicFramePr>
        <p:xfrm>
          <a:off x="269632" y="920262"/>
          <a:ext cx="11646875" cy="543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758" name="Inhaltsplatzhalter 3">
            <a:extLst>
              <a:ext uri="{FF2B5EF4-FFF2-40B4-BE49-F238E27FC236}">
                <a16:creationId xmlns:a16="http://schemas.microsoft.com/office/drawing/2014/main" id="{0384A07C-BD20-CC3F-5F63-E22C1FAC17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774917"/>
              </p:ext>
            </p:extLst>
          </p:nvPr>
        </p:nvGraphicFramePr>
        <p:xfrm>
          <a:off x="0" y="6492875"/>
          <a:ext cx="121596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398">
                  <a:extLst>
                    <a:ext uri="{9D8B030D-6E8A-4147-A177-3AD203B41FA5}">
                      <a16:colId xmlns:a16="http://schemas.microsoft.com/office/drawing/2014/main" val="2936406333"/>
                    </a:ext>
                  </a:extLst>
                </a:gridCol>
                <a:gridCol w="2275564">
                  <a:extLst>
                    <a:ext uri="{9D8B030D-6E8A-4147-A177-3AD203B41FA5}">
                      <a16:colId xmlns:a16="http://schemas.microsoft.com/office/drawing/2014/main" val="3327671431"/>
                    </a:ext>
                  </a:extLst>
                </a:gridCol>
                <a:gridCol w="2521144">
                  <a:extLst>
                    <a:ext uri="{9D8B030D-6E8A-4147-A177-3AD203B41FA5}">
                      <a16:colId xmlns:a16="http://schemas.microsoft.com/office/drawing/2014/main" val="3697069453"/>
                    </a:ext>
                  </a:extLst>
                </a:gridCol>
                <a:gridCol w="4055603">
                  <a:extLst>
                    <a:ext uri="{9D8B030D-6E8A-4147-A177-3AD203B41FA5}">
                      <a16:colId xmlns:a16="http://schemas.microsoft.com/office/drawing/2014/main" val="3825894234"/>
                    </a:ext>
                  </a:extLst>
                </a:gridCol>
                <a:gridCol w="783914">
                  <a:extLst>
                    <a:ext uri="{9D8B030D-6E8A-4147-A177-3AD203B41FA5}">
                      <a16:colId xmlns:a16="http://schemas.microsoft.com/office/drawing/2014/main" val="3104924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Original Study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Workflow</a:t>
                      </a:r>
                      <a:endParaRPr lang="de-AT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dirty="0" err="1"/>
                        <a:t>Results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Reproducibility</a:t>
                      </a:r>
                      <a:r>
                        <a:rPr lang="de-DE" dirty="0"/>
                        <a:t> &amp; </a:t>
                      </a:r>
                      <a:r>
                        <a:rPr lang="de-DE" dirty="0" err="1"/>
                        <a:t>Conclusion</a:t>
                      </a:r>
                      <a:endParaRPr lang="de-AT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7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3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5084-331D-4CC6-7B0D-155F4978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561357D-796C-B5A5-298E-55751AC4FD31}"/>
              </a:ext>
            </a:extLst>
          </p:cNvPr>
          <p:cNvSpPr/>
          <p:nvPr/>
        </p:nvSpPr>
        <p:spPr>
          <a:xfrm>
            <a:off x="308780" y="186960"/>
            <a:ext cx="9237786" cy="583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4802A1-0A00-CB21-FCAA-105BD34B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37" y="38681"/>
            <a:ext cx="8534400" cy="880499"/>
          </a:xfrm>
        </p:spPr>
        <p:txBody>
          <a:bodyPr>
            <a:normAutofit/>
          </a:bodyPr>
          <a:lstStyle/>
          <a:p>
            <a:r>
              <a:rPr lang="de-DE" sz="2800" dirty="0" err="1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5" name="Picture 2" descr="Universität Graz – We work for tomorrow - Universität Graz">
            <a:extLst>
              <a:ext uri="{FF2B5EF4-FFF2-40B4-BE49-F238E27FC236}">
                <a16:creationId xmlns:a16="http://schemas.microsoft.com/office/drawing/2014/main" id="{FA815115-AE2E-0267-86FE-2EBE7005F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957" y="2096"/>
            <a:ext cx="838200" cy="74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ir haben ein neues Logo! Was sagt ihr dazu?">
            <a:extLst>
              <a:ext uri="{FF2B5EF4-FFF2-40B4-BE49-F238E27FC236}">
                <a16:creationId xmlns:a16="http://schemas.microsoft.com/office/drawing/2014/main" id="{92EB1BF2-697C-2591-E304-37AABC6E2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7" y="0"/>
            <a:ext cx="1681843" cy="75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BA29C5-E3AB-F85B-72E0-B75120A1E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79" y="1422489"/>
            <a:ext cx="4516739" cy="500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B0227D-5B64-C16A-DE8B-2E83DA18F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452" y="1422288"/>
            <a:ext cx="4948119" cy="501046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9E39AF-3ABD-E233-4BC3-2FDE9D8C4FF5}"/>
              </a:ext>
            </a:extLst>
          </p:cNvPr>
          <p:cNvSpPr/>
          <p:nvPr/>
        </p:nvSpPr>
        <p:spPr>
          <a:xfrm>
            <a:off x="743108" y="887949"/>
            <a:ext cx="2720529" cy="40304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solidFill>
                  <a:srgbClr val="1F2328"/>
                </a:solidFill>
              </a:rPr>
              <a:t>Study Area</a:t>
            </a:r>
            <a:r>
              <a:rPr lang="en-US" dirty="0">
                <a:solidFill>
                  <a:srgbClr val="1F2328"/>
                </a:solidFill>
              </a:rPr>
              <a:t>: ~987 km2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EC7E01-61F6-9C17-85B7-2904E1AABDB8}"/>
              </a:ext>
            </a:extLst>
          </p:cNvPr>
          <p:cNvSpPr/>
          <p:nvPr/>
        </p:nvSpPr>
        <p:spPr>
          <a:xfrm>
            <a:off x="3526612" y="887949"/>
            <a:ext cx="3889349" cy="40304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solidFill>
                  <a:srgbClr val="1F2328"/>
                </a:solidFill>
              </a:rPr>
              <a:t>Suitable Area</a:t>
            </a:r>
            <a:r>
              <a:rPr lang="en-US" dirty="0">
                <a:solidFill>
                  <a:srgbClr val="1F2328"/>
                </a:solidFill>
              </a:rPr>
              <a:t>: ~106 km2 (10.74%)</a:t>
            </a:r>
            <a:endParaRPr lang="en-US" dirty="0"/>
          </a:p>
          <a:p>
            <a:endParaRPr lang="en-US" dirty="0">
              <a:solidFill>
                <a:srgbClr val="1F2328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F7816B-F45B-D820-F5F0-12FC910FB995}"/>
              </a:ext>
            </a:extLst>
          </p:cNvPr>
          <p:cNvSpPr/>
          <p:nvPr/>
        </p:nvSpPr>
        <p:spPr>
          <a:xfrm>
            <a:off x="7481453" y="875352"/>
            <a:ext cx="4011522" cy="4156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solidFill>
                  <a:srgbClr val="1F2328"/>
                </a:solidFill>
              </a:rPr>
              <a:t>Excluded Area</a:t>
            </a:r>
            <a:r>
              <a:rPr lang="en-US" dirty="0">
                <a:solidFill>
                  <a:srgbClr val="1F2328"/>
                </a:solidFill>
              </a:rPr>
              <a:t>: ~881 km2 (89.26%)</a:t>
            </a:r>
            <a:endParaRPr lang="en-US" dirty="0"/>
          </a:p>
          <a:p>
            <a:endParaRPr lang="en-US" dirty="0">
              <a:solidFill>
                <a:srgbClr val="1F2328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BD22580-0EDA-1022-9035-266DE85A3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2" name="Inhaltsplatzhalter 3">
            <a:extLst>
              <a:ext uri="{FF2B5EF4-FFF2-40B4-BE49-F238E27FC236}">
                <a16:creationId xmlns:a16="http://schemas.microsoft.com/office/drawing/2014/main" id="{2E6DC2AA-0BD5-A85C-589E-922D006F84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920499"/>
              </p:ext>
            </p:extLst>
          </p:nvPr>
        </p:nvGraphicFramePr>
        <p:xfrm>
          <a:off x="0" y="6492875"/>
          <a:ext cx="121596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398">
                  <a:extLst>
                    <a:ext uri="{9D8B030D-6E8A-4147-A177-3AD203B41FA5}">
                      <a16:colId xmlns:a16="http://schemas.microsoft.com/office/drawing/2014/main" val="2936406333"/>
                    </a:ext>
                  </a:extLst>
                </a:gridCol>
                <a:gridCol w="2275564">
                  <a:extLst>
                    <a:ext uri="{9D8B030D-6E8A-4147-A177-3AD203B41FA5}">
                      <a16:colId xmlns:a16="http://schemas.microsoft.com/office/drawing/2014/main" val="3327671431"/>
                    </a:ext>
                  </a:extLst>
                </a:gridCol>
                <a:gridCol w="2521144">
                  <a:extLst>
                    <a:ext uri="{9D8B030D-6E8A-4147-A177-3AD203B41FA5}">
                      <a16:colId xmlns:a16="http://schemas.microsoft.com/office/drawing/2014/main" val="3697069453"/>
                    </a:ext>
                  </a:extLst>
                </a:gridCol>
                <a:gridCol w="4055603">
                  <a:extLst>
                    <a:ext uri="{9D8B030D-6E8A-4147-A177-3AD203B41FA5}">
                      <a16:colId xmlns:a16="http://schemas.microsoft.com/office/drawing/2014/main" val="3825894234"/>
                    </a:ext>
                  </a:extLst>
                </a:gridCol>
                <a:gridCol w="783914">
                  <a:extLst>
                    <a:ext uri="{9D8B030D-6E8A-4147-A177-3AD203B41FA5}">
                      <a16:colId xmlns:a16="http://schemas.microsoft.com/office/drawing/2014/main" val="3104924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Original Study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Workflow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dirty="0" err="1"/>
                        <a:t>Results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Reproducibility</a:t>
                      </a:r>
                      <a:r>
                        <a:rPr lang="de-DE" dirty="0"/>
                        <a:t> &amp; </a:t>
                      </a:r>
                      <a:r>
                        <a:rPr lang="de-DE" dirty="0" err="1"/>
                        <a:t>Conclusion</a:t>
                      </a:r>
                      <a:endParaRPr lang="de-AT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7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059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8885-0DBB-EE65-90FA-A885A4D6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4E1E534-8BFB-7C00-93AF-6F64E31677F1}"/>
              </a:ext>
            </a:extLst>
          </p:cNvPr>
          <p:cNvSpPr/>
          <p:nvPr/>
        </p:nvSpPr>
        <p:spPr>
          <a:xfrm>
            <a:off x="308780" y="186960"/>
            <a:ext cx="9237786" cy="583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B9F5D2-4A6C-D7AD-312C-F197A96B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37" y="38681"/>
            <a:ext cx="8534400" cy="880499"/>
          </a:xfrm>
        </p:spPr>
        <p:txBody>
          <a:bodyPr>
            <a:normAutofit/>
          </a:bodyPr>
          <a:lstStyle/>
          <a:p>
            <a:r>
              <a:rPr lang="de-DE" sz="2800" dirty="0" err="1">
                <a:solidFill>
                  <a:schemeClr val="bg1"/>
                </a:solidFill>
              </a:rPr>
              <a:t>Reproducibility</a:t>
            </a:r>
            <a:r>
              <a:rPr lang="de-DE" sz="2800" dirty="0">
                <a:solidFill>
                  <a:schemeClr val="bg1"/>
                </a:solidFill>
              </a:rPr>
              <a:t> and </a:t>
            </a:r>
            <a:r>
              <a:rPr lang="de-DE" sz="2800" dirty="0" err="1">
                <a:solidFill>
                  <a:schemeClr val="bg1"/>
                </a:solidFill>
              </a:rPr>
              <a:t>ConClusion</a:t>
            </a:r>
            <a:endParaRPr lang="en-US" sz="2800" dirty="0" err="1">
              <a:solidFill>
                <a:schemeClr val="bg1"/>
              </a:solidFill>
            </a:endParaRPr>
          </a:p>
        </p:txBody>
      </p:sp>
      <p:pic>
        <p:nvPicPr>
          <p:cNvPr id="5" name="Picture 2" descr="Universität Graz – We work for tomorrow - Universität Graz">
            <a:extLst>
              <a:ext uri="{FF2B5EF4-FFF2-40B4-BE49-F238E27FC236}">
                <a16:creationId xmlns:a16="http://schemas.microsoft.com/office/drawing/2014/main" id="{82C53C07-1B4F-FCA4-874C-A00C242FB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957" y="2096"/>
            <a:ext cx="838200" cy="74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ir haben ein neues Logo! Was sagt ihr dazu?">
            <a:extLst>
              <a:ext uri="{FF2B5EF4-FFF2-40B4-BE49-F238E27FC236}">
                <a16:creationId xmlns:a16="http://schemas.microsoft.com/office/drawing/2014/main" id="{C15260D8-87D5-57D3-F8D8-26CD1F1A4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7" y="0"/>
            <a:ext cx="1681843" cy="75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DD61ABA-691A-DFCE-FA27-FFC7B6CC82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388837"/>
              </p:ext>
            </p:extLst>
          </p:nvPr>
        </p:nvGraphicFramePr>
        <p:xfrm>
          <a:off x="321174" y="938961"/>
          <a:ext cx="11329239" cy="5402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461" name="Inhaltsplatzhalter 3">
            <a:extLst>
              <a:ext uri="{FF2B5EF4-FFF2-40B4-BE49-F238E27FC236}">
                <a16:creationId xmlns:a16="http://schemas.microsoft.com/office/drawing/2014/main" id="{1CEBBF4A-6937-FE8D-293F-B2FCFF2ADB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5897591"/>
              </p:ext>
            </p:extLst>
          </p:nvPr>
        </p:nvGraphicFramePr>
        <p:xfrm>
          <a:off x="0" y="6492875"/>
          <a:ext cx="121596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398">
                  <a:extLst>
                    <a:ext uri="{9D8B030D-6E8A-4147-A177-3AD203B41FA5}">
                      <a16:colId xmlns:a16="http://schemas.microsoft.com/office/drawing/2014/main" val="2936406333"/>
                    </a:ext>
                  </a:extLst>
                </a:gridCol>
                <a:gridCol w="2275564">
                  <a:extLst>
                    <a:ext uri="{9D8B030D-6E8A-4147-A177-3AD203B41FA5}">
                      <a16:colId xmlns:a16="http://schemas.microsoft.com/office/drawing/2014/main" val="3327671431"/>
                    </a:ext>
                  </a:extLst>
                </a:gridCol>
                <a:gridCol w="2521144">
                  <a:extLst>
                    <a:ext uri="{9D8B030D-6E8A-4147-A177-3AD203B41FA5}">
                      <a16:colId xmlns:a16="http://schemas.microsoft.com/office/drawing/2014/main" val="3697069453"/>
                    </a:ext>
                  </a:extLst>
                </a:gridCol>
                <a:gridCol w="4055603">
                  <a:extLst>
                    <a:ext uri="{9D8B030D-6E8A-4147-A177-3AD203B41FA5}">
                      <a16:colId xmlns:a16="http://schemas.microsoft.com/office/drawing/2014/main" val="3825894234"/>
                    </a:ext>
                  </a:extLst>
                </a:gridCol>
                <a:gridCol w="783914">
                  <a:extLst>
                    <a:ext uri="{9D8B030D-6E8A-4147-A177-3AD203B41FA5}">
                      <a16:colId xmlns:a16="http://schemas.microsoft.com/office/drawing/2014/main" val="3104924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Original Study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Workflow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dirty="0" err="1"/>
                        <a:t>Results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Reproducibility</a:t>
                      </a:r>
                      <a:r>
                        <a:rPr lang="de-DE" dirty="0"/>
                        <a:t> &amp; </a:t>
                      </a:r>
                      <a:r>
                        <a:rPr lang="de-DE" dirty="0" err="1"/>
                        <a:t>Conclusion</a:t>
                      </a:r>
                      <a:endParaRPr lang="de-AT" err="1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7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191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82F8-5D44-0AB0-B1E4-4E64950D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2D6C9C7-A615-F0F1-D577-892E3DDD531F}"/>
              </a:ext>
            </a:extLst>
          </p:cNvPr>
          <p:cNvSpPr/>
          <p:nvPr/>
        </p:nvSpPr>
        <p:spPr>
          <a:xfrm>
            <a:off x="308780" y="186960"/>
            <a:ext cx="9237786" cy="583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E05F48-FA2D-1259-A51A-73C990FA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80" y="38681"/>
            <a:ext cx="8534400" cy="880499"/>
          </a:xfrm>
        </p:spPr>
        <p:txBody>
          <a:bodyPr>
            <a:normAutofit/>
          </a:bodyPr>
          <a:lstStyle/>
          <a:p>
            <a:r>
              <a:rPr lang="de-DE" sz="2800">
                <a:solidFill>
                  <a:schemeClr val="bg1"/>
                </a:solidFill>
              </a:rPr>
              <a:t>References</a:t>
            </a:r>
            <a:endParaRPr lang="de-AT" sz="2800">
              <a:solidFill>
                <a:schemeClr val="bg1"/>
              </a:solidFill>
            </a:endParaRPr>
          </a:p>
        </p:txBody>
      </p:sp>
      <p:pic>
        <p:nvPicPr>
          <p:cNvPr id="5" name="Picture 2" descr="Universität Graz – We work for tomorrow - Universität Graz">
            <a:extLst>
              <a:ext uri="{FF2B5EF4-FFF2-40B4-BE49-F238E27FC236}">
                <a16:creationId xmlns:a16="http://schemas.microsoft.com/office/drawing/2014/main" id="{BFCF0008-AF57-CF0F-A2C1-D18F075E1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957" y="2096"/>
            <a:ext cx="838200" cy="74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ir haben ein neues Logo! Was sagt ihr dazu?">
            <a:extLst>
              <a:ext uri="{FF2B5EF4-FFF2-40B4-BE49-F238E27FC236}">
                <a16:creationId xmlns:a16="http://schemas.microsoft.com/office/drawing/2014/main" id="{C0126761-393B-C8FC-60D7-40E7E2917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7" y="0"/>
            <a:ext cx="1681843" cy="75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E89285D-69C5-1A39-3EC8-C01D6E2B47B8}"/>
              </a:ext>
            </a:extLst>
          </p:cNvPr>
          <p:cNvSpPr txBox="1"/>
          <p:nvPr/>
        </p:nvSpPr>
        <p:spPr>
          <a:xfrm>
            <a:off x="462642" y="3832284"/>
            <a:ext cx="6142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err="1">
                <a:solidFill>
                  <a:schemeClr val="accent1">
                    <a:lumMod val="75000"/>
                  </a:schemeClr>
                </a:solidFill>
              </a:rPr>
              <a:t>Thank</a:t>
            </a:r>
            <a:r>
              <a:rPr lang="de-DE" sz="32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3200" b="1" err="1">
                <a:solidFill>
                  <a:schemeClr val="accent1">
                    <a:lumMod val="75000"/>
                  </a:schemeClr>
                </a:solidFill>
              </a:rPr>
              <a:t>you</a:t>
            </a:r>
            <a:r>
              <a:rPr lang="de-DE" sz="32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3200" b="1" err="1">
                <a:solidFill>
                  <a:schemeClr val="accent1">
                    <a:lumMod val="75000"/>
                  </a:schemeClr>
                </a:solidFill>
              </a:rPr>
              <a:t>for</a:t>
            </a:r>
            <a:r>
              <a:rPr lang="de-DE" sz="32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3200" b="1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32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3200" b="1" err="1">
                <a:solidFill>
                  <a:schemeClr val="accent1">
                    <a:lumMod val="75000"/>
                  </a:schemeClr>
                </a:solidFill>
              </a:rPr>
              <a:t>attention</a:t>
            </a:r>
            <a:r>
              <a:rPr lang="de-DE" sz="3200" b="1">
                <a:solidFill>
                  <a:schemeClr val="accent1">
                    <a:lumMod val="75000"/>
                  </a:schemeClr>
                </a:solidFill>
              </a:rPr>
              <a:t>!</a:t>
            </a:r>
            <a:endParaRPr lang="de-AT"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73E639-7154-4B9A-1BDE-EA19E422871D}"/>
              </a:ext>
            </a:extLst>
          </p:cNvPr>
          <p:cNvSpPr txBox="1"/>
          <p:nvPr/>
        </p:nvSpPr>
        <p:spPr>
          <a:xfrm>
            <a:off x="308780" y="1581045"/>
            <a:ext cx="107387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00"/>
            <a:r>
              <a:rPr lang="de-AT" sz="1800" err="1">
                <a:latin typeface="Segoe UI" panose="020B0502040204020203" pitchFamily="34" charset="0"/>
              </a:rPr>
              <a:t>Benalcazar</a:t>
            </a:r>
            <a:r>
              <a:rPr lang="de-AT" sz="1800">
                <a:latin typeface="Segoe UI" panose="020B0502040204020203" pitchFamily="34" charset="0"/>
              </a:rPr>
              <a:t>, Pablo; </a:t>
            </a:r>
            <a:r>
              <a:rPr lang="de-AT" sz="1800" err="1">
                <a:latin typeface="Segoe UI" panose="020B0502040204020203" pitchFamily="34" charset="0"/>
              </a:rPr>
              <a:t>Komorowska</a:t>
            </a:r>
            <a:r>
              <a:rPr lang="de-AT" sz="1800">
                <a:latin typeface="Segoe UI" panose="020B0502040204020203" pitchFamily="34" charset="0"/>
              </a:rPr>
              <a:t>, Aleksandra; </a:t>
            </a:r>
            <a:r>
              <a:rPr lang="de-AT" sz="1800" err="1">
                <a:latin typeface="Segoe UI" panose="020B0502040204020203" pitchFamily="34" charset="0"/>
              </a:rPr>
              <a:t>Kamiński</a:t>
            </a:r>
            <a:r>
              <a:rPr lang="de-AT" sz="1800">
                <a:latin typeface="Segoe UI" panose="020B0502040204020203" pitchFamily="34" charset="0"/>
              </a:rPr>
              <a:t>, Jacek (2024): A GIS-</a:t>
            </a:r>
            <a:r>
              <a:rPr lang="de-AT" sz="1800" err="1">
                <a:latin typeface="Segoe UI" panose="020B0502040204020203" pitchFamily="34" charset="0"/>
              </a:rPr>
              <a:t>based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method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for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assessing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the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economics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of</a:t>
            </a:r>
            <a:r>
              <a:rPr lang="de-AT" sz="1800">
                <a:latin typeface="Segoe UI" panose="020B0502040204020203" pitchFamily="34" charset="0"/>
              </a:rPr>
              <a:t> utility-</a:t>
            </a:r>
            <a:r>
              <a:rPr lang="de-AT" sz="1800" err="1">
                <a:latin typeface="Segoe UI" panose="020B0502040204020203" pitchFamily="34" charset="0"/>
              </a:rPr>
              <a:t>scale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photovoltaic</a:t>
            </a:r>
            <a:r>
              <a:rPr lang="de-AT" sz="1800">
                <a:latin typeface="Segoe UI" panose="020B0502040204020203" pitchFamily="34" charset="0"/>
              </a:rPr>
              <a:t> </a:t>
            </a:r>
            <a:r>
              <a:rPr lang="de-AT" sz="1800" err="1">
                <a:latin typeface="Segoe UI" panose="020B0502040204020203" pitchFamily="34" charset="0"/>
              </a:rPr>
              <a:t>systems</a:t>
            </a:r>
            <a:r>
              <a:rPr lang="de-AT" sz="1800">
                <a:latin typeface="Segoe UI" panose="020B0502040204020203" pitchFamily="34" charset="0"/>
              </a:rPr>
              <a:t>. In: </a:t>
            </a:r>
            <a:r>
              <a:rPr lang="de-AT" sz="1800" i="1">
                <a:latin typeface="Segoe UI" panose="020B0502040204020203" pitchFamily="34" charset="0"/>
              </a:rPr>
              <a:t>Applied Energy </a:t>
            </a:r>
            <a:r>
              <a:rPr lang="de-AT" sz="1800" i="0">
                <a:latin typeface="Segoe UI" panose="020B0502040204020203" pitchFamily="34" charset="0"/>
              </a:rPr>
              <a:t>353, S. 122044. DOI: 10.1016/j.apenergy.2023.122044.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567DF-3552-95CA-106C-36382DD37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" name="Inhaltsplatzhalter 3">
            <a:extLst>
              <a:ext uri="{FF2B5EF4-FFF2-40B4-BE49-F238E27FC236}">
                <a16:creationId xmlns:a16="http://schemas.microsoft.com/office/drawing/2014/main" id="{B3DC9580-9869-AAED-B52A-0CD0E9E00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375328"/>
              </p:ext>
            </p:extLst>
          </p:nvPr>
        </p:nvGraphicFramePr>
        <p:xfrm>
          <a:off x="0" y="6492875"/>
          <a:ext cx="121596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398">
                  <a:extLst>
                    <a:ext uri="{9D8B030D-6E8A-4147-A177-3AD203B41FA5}">
                      <a16:colId xmlns:a16="http://schemas.microsoft.com/office/drawing/2014/main" val="2936406333"/>
                    </a:ext>
                  </a:extLst>
                </a:gridCol>
                <a:gridCol w="2275564">
                  <a:extLst>
                    <a:ext uri="{9D8B030D-6E8A-4147-A177-3AD203B41FA5}">
                      <a16:colId xmlns:a16="http://schemas.microsoft.com/office/drawing/2014/main" val="3327671431"/>
                    </a:ext>
                  </a:extLst>
                </a:gridCol>
                <a:gridCol w="2521144">
                  <a:extLst>
                    <a:ext uri="{9D8B030D-6E8A-4147-A177-3AD203B41FA5}">
                      <a16:colId xmlns:a16="http://schemas.microsoft.com/office/drawing/2014/main" val="3697069453"/>
                    </a:ext>
                  </a:extLst>
                </a:gridCol>
                <a:gridCol w="4055603">
                  <a:extLst>
                    <a:ext uri="{9D8B030D-6E8A-4147-A177-3AD203B41FA5}">
                      <a16:colId xmlns:a16="http://schemas.microsoft.com/office/drawing/2014/main" val="3825894234"/>
                    </a:ext>
                  </a:extLst>
                </a:gridCol>
                <a:gridCol w="783914">
                  <a:extLst>
                    <a:ext uri="{9D8B030D-6E8A-4147-A177-3AD203B41FA5}">
                      <a16:colId xmlns:a16="http://schemas.microsoft.com/office/drawing/2014/main" val="3104924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Original Study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Workflow</a:t>
                      </a:r>
                      <a:endParaRPr lang="de-AT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dirty="0" err="1"/>
                        <a:t>Results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Reproducibility</a:t>
                      </a:r>
                      <a:r>
                        <a:rPr lang="de-DE" dirty="0"/>
                        <a:t> &amp; </a:t>
                      </a:r>
                      <a:r>
                        <a:rPr lang="de-DE" dirty="0" err="1"/>
                        <a:t>Conclusion</a:t>
                      </a:r>
                      <a:endParaRPr lang="de-AT" err="1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7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27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egment">
  <a:themeElements>
    <a:clrScheme name="Gelb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d7b438-c523-4964-88ab-fbd0cb4bd7f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149E233963C0D47B1F18DC2DF7886DF" ma:contentTypeVersion="12" ma:contentTypeDescription="Ein neues Dokument erstellen." ma:contentTypeScope="" ma:versionID="a70a040f03e52c6007855f2a0b4b27ad">
  <xsd:schema xmlns:xsd="http://www.w3.org/2001/XMLSchema" xmlns:xs="http://www.w3.org/2001/XMLSchema" xmlns:p="http://schemas.microsoft.com/office/2006/metadata/properties" xmlns:ns3="1ad7b438-c523-4964-88ab-fbd0cb4bd7fe" targetNamespace="http://schemas.microsoft.com/office/2006/metadata/properties" ma:root="true" ma:fieldsID="ee6a16fc78d2b8b06e6b10d116aa9bab" ns3:_="">
    <xsd:import namespace="1ad7b438-c523-4964-88ab-fbd0cb4bd7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d7b438-c523-4964-88ab-fbd0cb4bd7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F9D6B7-78CA-4945-84C4-D137ECB672A2}">
  <ds:schemaRefs>
    <ds:schemaRef ds:uri="1ad7b438-c523-4964-88ab-fbd0cb4bd7f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977D987-6656-4D27-BE49-552412A55117}">
  <ds:schemaRefs>
    <ds:schemaRef ds:uri="1ad7b438-c523-4964-88ab-fbd0cb4bd7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AAC6FBB-9BBB-4C06-B647-7C944F6F0B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Application>Microsoft Office PowerPoint</Application>
  <PresentationFormat>Widescreen</PresentationFormat>
  <Slides>6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Segment</vt:lpstr>
      <vt:lpstr>A GIS-based method for assessing the economics of utility-scale photovoltaic systems for Southeast styria  Based on the Paper from: Pablo Benalcazar, Aleksandra Komorowska, Jacek Kami´ nski  Published: 1st January 2024  </vt:lpstr>
      <vt:lpstr>Original Study</vt:lpstr>
      <vt:lpstr>Workflow</vt:lpstr>
      <vt:lpstr>Results</vt:lpstr>
      <vt:lpstr>Reproducibility and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Sturm, Cornelia</dc:creator>
  <cp:revision>515</cp:revision>
  <dcterms:created xsi:type="dcterms:W3CDTF">2025-10-19T13:37:28Z</dcterms:created>
  <dcterms:modified xsi:type="dcterms:W3CDTF">2025-12-10T14:19:57Z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0x0101003149E233963C0D47B1F18DC2DF7886DF</vt:lpwstr>
  </property>
</Properties>
</file>